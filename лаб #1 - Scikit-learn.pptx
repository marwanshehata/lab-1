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y="10689325" cx="7562075"/>
  <p:notesSz cx="10689325" cy="7562075"/>
  <p:embeddedFontLst>
    <p:embeddedFont>
      <p:font typeface="Tino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40C591E-2DB2-4C24-8F66-90C028B987D7}">
  <a:tblStyle styleId="{440C591E-2DB2-4C24-8F66-90C028B987D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Tinos-regular.fntdata"/><Relationship Id="rId25" Type="http://schemas.openxmlformats.org/officeDocument/2006/relationships/slide" Target="slides/slide20.xml"/><Relationship Id="rId28" Type="http://schemas.openxmlformats.org/officeDocument/2006/relationships/font" Target="fonts/Tinos-italic.fntdata"/><Relationship Id="rId27" Type="http://schemas.openxmlformats.org/officeDocument/2006/relationships/font" Target="fonts/Tinos-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Tinos-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 name="Google Shape;4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 name="Google Shape;7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 name="Google Shape;8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3" name="Google Shape;1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1" name="Google Shape;1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5" name="Google Shape;19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github.com/MarwanShehata/Lab-1/"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hyperlink" Target="https://github.com/MarwanShehata/Lab-1/"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7.png"/><Relationship Id="rId6"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507955" y="331752"/>
            <a:ext cx="6924283" cy="165113"/>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ЛАБОРАТОРНАЯ РАБОТА №1 · МАШИННОЕ ОБУЧЕНИЕ</a:t>
            </a:r>
            <a:endParaRPr b="0" i="0" sz="1000" u="none" cap="none" strike="noStrike">
              <a:solidFill>
                <a:schemeClr val="dk1"/>
              </a:solidFill>
              <a:latin typeface="Calibri"/>
              <a:ea typeface="Calibri"/>
              <a:cs typeface="Calibri"/>
              <a:sym typeface="Calibri"/>
            </a:endParaRPr>
          </a:p>
        </p:txBody>
      </p:sp>
      <p:sp>
        <p:nvSpPr>
          <p:cNvPr id="17" name="Google Shape;17;p3"/>
          <p:cNvSpPr/>
          <p:nvPr/>
        </p:nvSpPr>
        <p:spPr>
          <a:xfrm>
            <a:off x="507955" y="602226"/>
            <a:ext cx="6546179" cy="807657"/>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Предобработка данных</a:t>
            </a:r>
            <a:endParaRPr b="0" i="0" sz="3000" u="none" cap="none" strike="noStrike">
              <a:solidFill>
                <a:schemeClr val="dk1"/>
              </a:solidFill>
              <a:latin typeface="Calibri"/>
              <a:ea typeface="Calibri"/>
              <a:cs typeface="Calibri"/>
              <a:sym typeface="Calibri"/>
            </a:endParaRPr>
          </a:p>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с помощью Scikit-learn</a:t>
            </a:r>
            <a:endParaRPr b="0" i="0" sz="3000" u="none" cap="none" strike="noStrike">
              <a:solidFill>
                <a:schemeClr val="dk1"/>
              </a:solidFill>
              <a:latin typeface="Calibri"/>
              <a:ea typeface="Calibri"/>
              <a:cs typeface="Calibri"/>
              <a:sym typeface="Calibri"/>
            </a:endParaRPr>
          </a:p>
        </p:txBody>
      </p:sp>
      <p:sp>
        <p:nvSpPr>
          <p:cNvPr id="18" name="Google Shape;18;p3"/>
          <p:cNvSpPr/>
          <p:nvPr/>
        </p:nvSpPr>
        <p:spPr>
          <a:xfrm>
            <a:off x="507955" y="1579067"/>
            <a:ext cx="3044528" cy="787472"/>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1" i="0" lang="en-US" sz="1000" u="none" cap="none" strike="noStrike">
                <a:solidFill>
                  <a:srgbClr val="111111"/>
                </a:solidFill>
                <a:latin typeface="Tinos"/>
                <a:ea typeface="Tinos"/>
                <a:cs typeface="Tinos"/>
                <a:sym typeface="Tinos"/>
              </a:rPr>
              <a:t>Студент:</a:t>
            </a:r>
            <a:r>
              <a:rPr b="0" i="0" lang="en-US" sz="1000" u="none" cap="none" strike="noStrike">
                <a:solidFill>
                  <a:srgbClr val="111111"/>
                </a:solidFill>
                <a:latin typeface="Tinos"/>
                <a:ea typeface="Tinos"/>
                <a:cs typeface="Tinos"/>
                <a:sym typeface="Tinos"/>
              </a:rPr>
              <a:t> Марван Шехата Зейтун</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1" i="0" lang="en-US" sz="1000" u="none" cap="none" strike="noStrike">
                <a:solidFill>
                  <a:srgbClr val="111111"/>
                </a:solidFill>
                <a:latin typeface="Tinos"/>
                <a:ea typeface="Tinos"/>
                <a:cs typeface="Tinos"/>
                <a:sym typeface="Tinos"/>
              </a:rPr>
              <a:t>Дисциплина:</a:t>
            </a:r>
            <a:r>
              <a:rPr b="0" i="0" lang="en-US" sz="1000" u="none" cap="none" strike="noStrike">
                <a:solidFill>
                  <a:srgbClr val="111111"/>
                </a:solidFill>
                <a:latin typeface="Tinos"/>
                <a:ea typeface="Tinos"/>
                <a:cs typeface="Tinos"/>
                <a:sym typeface="Tinos"/>
              </a:rPr>
              <a:t> Машинное обучение</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1" i="0" lang="en-US" sz="1000" u="none" cap="none" strike="noStrike">
                <a:solidFill>
                  <a:srgbClr val="111111"/>
                </a:solidFill>
                <a:latin typeface="Tinos"/>
                <a:ea typeface="Tinos"/>
                <a:cs typeface="Tinos"/>
                <a:sym typeface="Tinos"/>
              </a:rPr>
              <a:t>Набор данных:</a:t>
            </a:r>
            <a:r>
              <a:rPr b="0" i="0" lang="en-US" sz="1000" u="none" cap="none" strike="noStrike">
                <a:solidFill>
                  <a:srgbClr val="111111"/>
                </a:solidFill>
                <a:latin typeface="Tinos"/>
                <a:ea typeface="Tinos"/>
                <a:cs typeface="Tinos"/>
                <a:sym typeface="Tinos"/>
              </a:rPr>
              <a:t> Heart Failure Clinical Records (Kaggle)</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1" i="0" lang="en-US" sz="1000" u="none" cap="none" strike="noStrike">
                <a:solidFill>
                  <a:srgbClr val="111111"/>
                </a:solidFill>
                <a:latin typeface="Tinos"/>
                <a:ea typeface="Tinos"/>
                <a:cs typeface="Tinos"/>
                <a:sym typeface="Tinos"/>
              </a:rPr>
              <a:t>Дата:</a:t>
            </a:r>
            <a:r>
              <a:rPr b="0" i="0" lang="en-US" sz="1000" u="none" cap="none" strike="noStrike">
                <a:solidFill>
                  <a:srgbClr val="111111"/>
                </a:solidFill>
                <a:latin typeface="Tinos"/>
                <a:ea typeface="Tinos"/>
                <a:cs typeface="Tinos"/>
                <a:sym typeface="Tinos"/>
              </a:rPr>
              <a:t> 26 октября 2026 г.</a:t>
            </a:r>
            <a:endParaRPr b="0" i="0" sz="1000" u="none" cap="none" strike="noStrike">
              <a:solidFill>
                <a:srgbClr val="111111"/>
              </a:solidFill>
              <a:latin typeface="Tinos"/>
              <a:ea typeface="Tinos"/>
              <a:cs typeface="Tinos"/>
              <a:sym typeface="Tinos"/>
            </a:endParaRPr>
          </a:p>
          <a:p>
            <a:pPr indent="0" lvl="0" marL="0" marR="0" rtl="0" algn="l">
              <a:lnSpc>
                <a:spcPct val="129000"/>
              </a:lnSpc>
              <a:spcBef>
                <a:spcPts val="0"/>
              </a:spcBef>
              <a:spcAft>
                <a:spcPts val="0"/>
              </a:spcAft>
              <a:buClr>
                <a:srgbClr val="111111"/>
              </a:buClr>
              <a:buSzPts val="1000"/>
              <a:buFont typeface="Tinos"/>
              <a:buNone/>
            </a:pPr>
            <a:r>
              <a:rPr lang="en-US" sz="1000">
                <a:solidFill>
                  <a:srgbClr val="111111"/>
                </a:solidFill>
                <a:latin typeface="Tinos"/>
                <a:ea typeface="Tinos"/>
                <a:cs typeface="Tinos"/>
                <a:sym typeface="Tinos"/>
              </a:rPr>
              <a:t>Ссылка на код: </a:t>
            </a:r>
            <a:r>
              <a:rPr lang="en-US" sz="1000" u="sng">
                <a:solidFill>
                  <a:schemeClr val="hlink"/>
                </a:solidFill>
                <a:latin typeface="Tinos"/>
                <a:ea typeface="Tinos"/>
                <a:cs typeface="Tinos"/>
                <a:sym typeface="Tinos"/>
                <a:hlinkClick r:id="rId3"/>
              </a:rPr>
              <a:t>https://github.com/MarwanShehata/Lab-1/</a:t>
            </a:r>
            <a:endParaRPr sz="1000">
              <a:solidFill>
                <a:srgbClr val="111111"/>
              </a:solidFill>
              <a:latin typeface="Tinos"/>
              <a:ea typeface="Tinos"/>
              <a:cs typeface="Tinos"/>
              <a:sym typeface="Tinos"/>
            </a:endParaRPr>
          </a:p>
          <a:p>
            <a:pPr indent="0" lvl="0" marL="0" marR="0" rtl="0" algn="l">
              <a:lnSpc>
                <a:spcPct val="129000"/>
              </a:lnSpc>
              <a:spcBef>
                <a:spcPts val="0"/>
              </a:spcBef>
              <a:spcAft>
                <a:spcPts val="0"/>
              </a:spcAft>
              <a:buClr>
                <a:srgbClr val="111111"/>
              </a:buClr>
              <a:buSzPts val="1000"/>
              <a:buFont typeface="Tinos"/>
              <a:buNone/>
            </a:pPr>
            <a:r>
              <a:t/>
            </a:r>
            <a:endParaRPr sz="1000">
              <a:solidFill>
                <a:srgbClr val="111111"/>
              </a:solidFill>
              <a:latin typeface="Tinos"/>
              <a:ea typeface="Tinos"/>
              <a:cs typeface="Tinos"/>
              <a:sym typeface="Tinos"/>
            </a:endParaRPr>
          </a:p>
          <a:p>
            <a:pPr indent="0" lvl="0" marL="0" marR="0" rtl="0" algn="l">
              <a:lnSpc>
                <a:spcPct val="129000"/>
              </a:lnSpc>
              <a:spcBef>
                <a:spcPts val="0"/>
              </a:spcBef>
              <a:spcAft>
                <a:spcPts val="0"/>
              </a:spcAft>
              <a:buClr>
                <a:srgbClr val="111111"/>
              </a:buClr>
              <a:buSzPts val="1000"/>
              <a:buFont typeface="Tinos"/>
              <a:buNone/>
            </a:pPr>
            <a:r>
              <a:t/>
            </a:r>
            <a:endParaRPr sz="1000">
              <a:solidFill>
                <a:srgbClr val="111111"/>
              </a:solidFill>
              <a:latin typeface="Tinos"/>
              <a:ea typeface="Tinos"/>
              <a:cs typeface="Tinos"/>
              <a:sym typeface="Tinos"/>
            </a:endParaRPr>
          </a:p>
          <a:p>
            <a:pPr indent="0" lvl="0" marL="0" marR="0" rtl="0" algn="l">
              <a:lnSpc>
                <a:spcPct val="129000"/>
              </a:lnSpc>
              <a:spcBef>
                <a:spcPts val="0"/>
              </a:spcBef>
              <a:spcAft>
                <a:spcPts val="0"/>
              </a:spcAft>
              <a:buClr>
                <a:srgbClr val="111111"/>
              </a:buClr>
              <a:buSzPts val="1000"/>
              <a:buFont typeface="Tinos"/>
              <a:buNone/>
            </a:pPr>
            <a:r>
              <a:t/>
            </a:r>
            <a:endParaRPr sz="1000">
              <a:solidFill>
                <a:srgbClr val="111111"/>
              </a:solidFill>
              <a:latin typeface="Tinos"/>
              <a:ea typeface="Tinos"/>
              <a:cs typeface="Tinos"/>
              <a:sym typeface="Tinos"/>
            </a:endParaRPr>
          </a:p>
        </p:txBody>
      </p:sp>
      <p:sp>
        <p:nvSpPr>
          <p:cNvPr id="19" name="Google Shape;19;p3"/>
          <p:cNvSpPr/>
          <p:nvPr/>
        </p:nvSpPr>
        <p:spPr>
          <a:xfrm>
            <a:off x="4009605" y="1582560"/>
            <a:ext cx="3044528"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66666"/>
              </a:buClr>
              <a:buSzPts val="1350"/>
              <a:buFont typeface="Tinos"/>
              <a:buNone/>
            </a:pPr>
            <a:r>
              <a:rPr b="1" i="0" lang="en-US" sz="1350" u="none" cap="none" strike="noStrike">
                <a:solidFill>
                  <a:srgbClr val="666666"/>
                </a:solidFill>
                <a:latin typeface="Tinos"/>
                <a:ea typeface="Tinos"/>
                <a:cs typeface="Tinos"/>
                <a:sym typeface="Tinos"/>
              </a:rPr>
              <a:t>Аннотация</a:t>
            </a:r>
            <a:endParaRPr b="0" i="0" sz="1350" u="none" cap="none" strike="noStrike">
              <a:solidFill>
                <a:schemeClr val="dk1"/>
              </a:solidFill>
              <a:latin typeface="Calibri"/>
              <a:ea typeface="Calibri"/>
              <a:cs typeface="Calibri"/>
              <a:sym typeface="Calibri"/>
            </a:endParaRPr>
          </a:p>
        </p:txBody>
      </p:sp>
      <p:sp>
        <p:nvSpPr>
          <p:cNvPr id="20" name="Google Shape;20;p3"/>
          <p:cNvSpPr/>
          <p:nvPr/>
        </p:nvSpPr>
        <p:spPr>
          <a:xfrm>
            <a:off x="4009605" y="1944741"/>
            <a:ext cx="3044528" cy="297129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Основные средства предобработки scikit-learn были применены к шести непрерывным клиническим признакам 299 пациентов с сердечной недостаточностью. Стандартизация, масштабирование к диапазону, квантильное и степенное преобразования и квантильная дискретизация обучены, проверены по формулам и сопоставлены по гистограммам. Работа показывает, что линейные методы сохраняют форму распределения, нелинейные её меняют, а масштабировщик нужно обучать на тех данных, на которых он оценивается.</a:t>
            </a:r>
            <a:endParaRPr b="0" i="0" sz="1200" u="none" cap="none" strike="noStrike">
              <a:solidFill>
                <a:schemeClr val="dk1"/>
              </a:solidFill>
              <a:latin typeface="Calibri"/>
              <a:ea typeface="Calibri"/>
              <a:cs typeface="Calibri"/>
              <a:sym typeface="Calibri"/>
            </a:endParaRPr>
          </a:p>
        </p:txBody>
      </p:sp>
      <p:sp>
        <p:nvSpPr>
          <p:cNvPr id="21" name="Google Shape;21;p3"/>
          <p:cNvSpPr/>
          <p:nvPr/>
        </p:nvSpPr>
        <p:spPr>
          <a:xfrm>
            <a:off x="507955" y="10086116"/>
            <a:ext cx="6546179" cy="171452"/>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Цель · Стандартизация · Нелинейные методы · Трудности и выводы</a:t>
            </a:r>
            <a:endParaRPr b="0" i="0" sz="1000" u="none" cap="none" strike="noStrike">
              <a:solidFill>
                <a:schemeClr val="dk1"/>
              </a:solidFill>
              <a:latin typeface="Calibri"/>
              <a:ea typeface="Calibri"/>
              <a:cs typeface="Calibri"/>
              <a:sym typeface="Calibri"/>
            </a:endParaRPr>
          </a:p>
        </p:txBody>
      </p:sp>
      <p:sp>
        <p:nvSpPr>
          <p:cNvPr id="22" name="Google Shape;22;p3"/>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4"/>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FFFFFF"/>
              </a:buClr>
              <a:buSzPts val="15000"/>
              <a:buFont typeface="Tinos"/>
              <a:buNone/>
            </a:pPr>
            <a:r>
              <a:rPr b="1" i="0" lang="en-US" sz="15000" u="none" cap="none" strike="noStrike">
                <a:solidFill>
                  <a:srgbClr val="FFFFFF"/>
                </a:solidFill>
                <a:latin typeface="Tinos"/>
                <a:ea typeface="Tinos"/>
                <a:cs typeface="Tinos"/>
                <a:sym typeface="Tinos"/>
              </a:rPr>
              <a:t>Ц</a:t>
            </a:r>
            <a:endParaRPr b="0" i="0" sz="15000" u="none" cap="none" strike="noStrike">
              <a:solidFill>
                <a:schemeClr val="dk1"/>
              </a:solidFill>
              <a:latin typeface="Calibri"/>
              <a:ea typeface="Calibri"/>
              <a:cs typeface="Calibri"/>
              <a:sym typeface="Calibri"/>
            </a:endParaRPr>
          </a:p>
        </p:txBody>
      </p:sp>
      <p:sp>
        <p:nvSpPr>
          <p:cNvPr id="29" name="Google Shape;29;p4"/>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000000"/>
              </a:buClr>
              <a:buSzPts val="15000"/>
              <a:buFont typeface="Tinos"/>
              <a:buNone/>
            </a:pPr>
            <a:r>
              <a:rPr b="1" i="0" lang="en-US" sz="15000" u="none" cap="none" strike="noStrike">
                <a:solidFill>
                  <a:srgbClr val="000000"/>
                </a:solidFill>
                <a:latin typeface="Tinos"/>
                <a:ea typeface="Tinos"/>
                <a:cs typeface="Tinos"/>
                <a:sym typeface="Tinos"/>
              </a:rPr>
              <a:t>Ц</a:t>
            </a:r>
            <a:endParaRPr b="0" i="0" sz="15000" u="none" cap="none" strike="noStrike">
              <a:solidFill>
                <a:schemeClr val="dk1"/>
              </a:solidFill>
              <a:latin typeface="Calibri"/>
              <a:ea typeface="Calibri"/>
              <a:cs typeface="Calibri"/>
              <a:sym typeface="Calibri"/>
            </a:endParaRPr>
          </a:p>
        </p:txBody>
      </p:sp>
      <p:sp>
        <p:nvSpPr>
          <p:cNvPr id="30" name="Google Shape;30;p4"/>
          <p:cNvSpPr/>
          <p:nvPr/>
        </p:nvSpPr>
        <p:spPr>
          <a:xfrm>
            <a:off x="3151793" y="1170614"/>
            <a:ext cx="3902340" cy="403829"/>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Цель и набор данных</a:t>
            </a:r>
            <a:endParaRPr b="0" i="0" sz="3000" u="none" cap="none" strike="noStrike">
              <a:solidFill>
                <a:schemeClr val="dk1"/>
              </a:solidFill>
              <a:latin typeface="Calibri"/>
              <a:ea typeface="Calibri"/>
              <a:cs typeface="Calibri"/>
              <a:sym typeface="Calibri"/>
            </a:endParaRPr>
          </a:p>
        </p:txBody>
      </p:sp>
      <p:sp>
        <p:nvSpPr>
          <p:cNvPr id="31" name="Google Shape;31;p4"/>
          <p:cNvSpPr/>
          <p:nvPr/>
        </p:nvSpPr>
        <p:spPr>
          <a:xfrm>
            <a:off x="507955" y="2236058"/>
            <a:ext cx="3450449"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66666"/>
              </a:buClr>
              <a:buSzPts val="1350"/>
              <a:buFont typeface="Tinos"/>
              <a:buNone/>
            </a:pPr>
            <a:r>
              <a:rPr b="1" i="0" lang="en-US" sz="1350" u="none" cap="none" strike="noStrike">
                <a:solidFill>
                  <a:srgbClr val="666666"/>
                </a:solidFill>
                <a:latin typeface="Tinos"/>
                <a:ea typeface="Tinos"/>
                <a:cs typeface="Tinos"/>
                <a:sym typeface="Tinos"/>
              </a:rPr>
              <a:t>Цель</a:t>
            </a:r>
            <a:endParaRPr b="0" i="0" sz="1350" u="none" cap="none" strike="noStrike">
              <a:solidFill>
                <a:schemeClr val="dk1"/>
              </a:solidFill>
              <a:latin typeface="Calibri"/>
              <a:ea typeface="Calibri"/>
              <a:cs typeface="Calibri"/>
              <a:sym typeface="Calibri"/>
            </a:endParaRPr>
          </a:p>
        </p:txBody>
      </p:sp>
      <p:sp>
        <p:nvSpPr>
          <p:cNvPr id="32" name="Google Shape;32;p4"/>
          <p:cNvSpPr/>
          <p:nvPr/>
        </p:nvSpPr>
        <p:spPr>
          <a:xfrm>
            <a:off x="507955" y="2598239"/>
            <a:ext cx="3450449" cy="15999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Цель лабораторной работы — познакомиться с методами предобработки Scikit-learn: стандартизацией, масштабированием к диапазону, нелинейными преобразованиями и дискретизацией. Для каждого метода рассматривается его действие на данные, проверяются параметры и сравниваются полученные распределения.</a:t>
            </a:r>
            <a:endParaRPr b="0" i="0" sz="1200" u="none" cap="none" strike="noStrike">
              <a:solidFill>
                <a:schemeClr val="dk1"/>
              </a:solidFill>
              <a:latin typeface="Calibri"/>
              <a:ea typeface="Calibri"/>
              <a:cs typeface="Calibri"/>
              <a:sym typeface="Calibri"/>
            </a:endParaRPr>
          </a:p>
        </p:txBody>
      </p:sp>
      <p:sp>
        <p:nvSpPr>
          <p:cNvPr id="33" name="Google Shape;33;p4"/>
          <p:cNvSpPr/>
          <p:nvPr/>
        </p:nvSpPr>
        <p:spPr>
          <a:xfrm>
            <a:off x="507955" y="4538165"/>
            <a:ext cx="3450449"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66666"/>
              </a:buClr>
              <a:buSzPts val="1350"/>
              <a:buFont typeface="Tinos"/>
              <a:buNone/>
            </a:pPr>
            <a:r>
              <a:rPr b="1" i="0" lang="en-US" sz="1350" u="none" cap="none" strike="noStrike">
                <a:solidFill>
                  <a:srgbClr val="666666"/>
                </a:solidFill>
                <a:latin typeface="Tinos"/>
                <a:ea typeface="Tinos"/>
                <a:cs typeface="Tinos"/>
                <a:sym typeface="Tinos"/>
              </a:rPr>
              <a:t>Подготовка набора данных</a:t>
            </a:r>
            <a:endParaRPr b="0" i="0" sz="1350" u="none" cap="none" strike="noStrike">
              <a:solidFill>
                <a:schemeClr val="dk1"/>
              </a:solidFill>
              <a:latin typeface="Calibri"/>
              <a:ea typeface="Calibri"/>
              <a:cs typeface="Calibri"/>
              <a:sym typeface="Calibri"/>
            </a:endParaRPr>
          </a:p>
        </p:txBody>
      </p:sp>
      <p:sp>
        <p:nvSpPr>
          <p:cNvPr id="34" name="Google Shape;34;p4"/>
          <p:cNvSpPr/>
          <p:nvPr/>
        </p:nvSpPr>
        <p:spPr>
          <a:xfrm>
            <a:off x="507955" y="4900346"/>
            <a:ext cx="3450449" cy="292052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Набор Heart Failure Clinical Records загружен из CSV. Бинарные признаки (anaemia, diabetes, high_blood_pressure, sex, smoking), переменная наблюдения time и целевая переменная DEATH_EVENT удалены, поскольку методы масштабирования имеют смысл только для непрерывных измерений.</a:t>
            </a:r>
            <a:endParaRPr b="0" i="0" sz="1200" u="none" cap="none" strike="noStrike">
              <a:solidFill>
                <a:schemeClr val="dk1"/>
              </a:solidFill>
              <a:latin typeface="Calibri"/>
              <a:ea typeface="Calibri"/>
              <a:cs typeface="Calibri"/>
              <a:sym typeface="Calibri"/>
            </a:endParaRPr>
          </a:p>
          <a:p>
            <a:pPr indent="0" lvl="0" marL="0" marR="0" rtl="0" algn="l">
              <a:lnSpc>
                <a:spcPct val="125000"/>
              </a:lnSpc>
              <a:spcBef>
                <a:spcPts val="135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В результате получена матрица из 299 наблюдений × 6 непрерывных признаков: age, creatinine_phosphokinase, ejection_fraction, platelets, serum_creatinine и serum_sodium. </a:t>
            </a:r>
            <a:r>
              <a:rPr b="1" i="0" lang="en-US" sz="1200" u="none" cap="none" strike="noStrike">
                <a:solidFill>
                  <a:srgbClr val="111111"/>
                </a:solidFill>
                <a:latin typeface="Tinos"/>
                <a:ea typeface="Tinos"/>
                <a:cs typeface="Tinos"/>
                <a:sym typeface="Tinos"/>
              </a:rPr>
              <a:t>[Вопрос 1, Задание 2]</a:t>
            </a:r>
            <a:endParaRPr b="0" i="0" sz="1200" u="none" cap="none" strike="noStrike">
              <a:solidFill>
                <a:schemeClr val="dk1"/>
              </a:solidFill>
              <a:latin typeface="Calibri"/>
              <a:ea typeface="Calibri"/>
              <a:cs typeface="Calibri"/>
              <a:sym typeface="Calibri"/>
            </a:endParaRPr>
          </a:p>
        </p:txBody>
      </p:sp>
      <p:sp>
        <p:nvSpPr>
          <p:cNvPr id="35" name="Google Shape;35;p4"/>
          <p:cNvSpPr/>
          <p:nvPr/>
        </p:nvSpPr>
        <p:spPr>
          <a:xfrm>
            <a:off x="4415526" y="2232566"/>
            <a:ext cx="2638607" cy="1633900"/>
          </a:xfrm>
          <a:prstGeom prst="rect">
            <a:avLst/>
          </a:prstGeom>
          <a:solidFill>
            <a:srgbClr val="FFFFFF"/>
          </a:solidFill>
          <a:ln cap="flat" cmpd="sng" w="11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4"/>
          <p:cNvSpPr/>
          <p:nvPr/>
        </p:nvSpPr>
        <p:spPr>
          <a:xfrm>
            <a:off x="4655903" y="2476435"/>
            <a:ext cx="2157854"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66666"/>
              </a:buClr>
              <a:buSzPts val="1350"/>
              <a:buFont typeface="Tinos"/>
              <a:buNone/>
            </a:pPr>
            <a:r>
              <a:rPr b="1" i="0" lang="en-US" sz="1350" u="none" cap="none" strike="noStrike">
                <a:solidFill>
                  <a:srgbClr val="666666"/>
                </a:solidFill>
                <a:latin typeface="Tinos"/>
                <a:ea typeface="Tinos"/>
                <a:cs typeface="Tinos"/>
                <a:sym typeface="Tinos"/>
              </a:rPr>
              <a:t>Рабочая матрица</a:t>
            </a:r>
            <a:endParaRPr b="0" i="0" sz="1350" u="none" cap="none" strike="noStrike">
              <a:solidFill>
                <a:schemeClr val="dk1"/>
              </a:solidFill>
              <a:latin typeface="Calibri"/>
              <a:ea typeface="Calibri"/>
              <a:cs typeface="Calibri"/>
              <a:sym typeface="Calibri"/>
            </a:endParaRPr>
          </a:p>
        </p:txBody>
      </p:sp>
      <p:sp>
        <p:nvSpPr>
          <p:cNvPr id="37" name="Google Shape;37;p4"/>
          <p:cNvSpPr/>
          <p:nvPr/>
        </p:nvSpPr>
        <p:spPr>
          <a:xfrm>
            <a:off x="4655900" y="2838625"/>
            <a:ext cx="2398200" cy="78750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1" i="0" lang="en-US" sz="1000" u="none" cap="none" strike="noStrike">
                <a:solidFill>
                  <a:srgbClr val="111111"/>
                </a:solidFill>
                <a:latin typeface="Tinos"/>
                <a:ea typeface="Tinos"/>
                <a:cs typeface="Tinos"/>
                <a:sym typeface="Tinos"/>
              </a:rPr>
              <a:t>Строки:</a:t>
            </a:r>
            <a:r>
              <a:rPr b="0" i="0" lang="en-US" sz="1000" u="none" cap="none" strike="noStrike">
                <a:solidFill>
                  <a:srgbClr val="111111"/>
                </a:solidFill>
                <a:latin typeface="Tinos"/>
                <a:ea typeface="Tinos"/>
                <a:cs typeface="Tinos"/>
                <a:sym typeface="Tinos"/>
              </a:rPr>
              <a:t> 299 пациентов</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1" i="0" lang="en-US" sz="1000" u="none" cap="none" strike="noStrike">
                <a:solidFill>
                  <a:srgbClr val="111111"/>
                </a:solidFill>
                <a:latin typeface="Tinos"/>
                <a:ea typeface="Tinos"/>
                <a:cs typeface="Tinos"/>
                <a:sym typeface="Tinos"/>
              </a:rPr>
              <a:t>Столбцы:</a:t>
            </a:r>
            <a:r>
              <a:rPr b="0" i="0" lang="en-US" sz="1000" u="none" cap="none" strike="noStrike">
                <a:solidFill>
                  <a:srgbClr val="111111"/>
                </a:solidFill>
                <a:latin typeface="Tinos"/>
                <a:ea typeface="Tinos"/>
                <a:cs typeface="Tinos"/>
                <a:sym typeface="Tinos"/>
              </a:rPr>
              <a:t> 6 непрерывных признаков</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1" i="0" lang="en-US" sz="1000" u="none" cap="none" strike="noStrike">
                <a:solidFill>
                  <a:srgbClr val="111111"/>
                </a:solidFill>
                <a:latin typeface="Tinos"/>
                <a:ea typeface="Tinos"/>
                <a:cs typeface="Tinos"/>
                <a:sym typeface="Tinos"/>
              </a:rPr>
              <a:t>Удалены:</a:t>
            </a:r>
            <a:r>
              <a:rPr b="0" i="0" lang="en-US" sz="1000" u="none" cap="none" strike="noStrike">
                <a:solidFill>
                  <a:srgbClr val="111111"/>
                </a:solidFill>
                <a:latin typeface="Tinos"/>
                <a:ea typeface="Tinos"/>
                <a:cs typeface="Tinos"/>
                <a:sym typeface="Tinos"/>
              </a:rPr>
              <a:t> 5 бинарных, time, DEATH_EVENT</a:t>
            </a:r>
            <a:endParaRPr b="0" i="0" sz="1000" u="none" cap="none" strike="noStrike">
              <a:solidFill>
                <a:srgbClr val="111111"/>
              </a:solidFill>
              <a:latin typeface="Tinos"/>
              <a:ea typeface="Tinos"/>
              <a:cs typeface="Tinos"/>
              <a:sym typeface="Tinos"/>
            </a:endParaRPr>
          </a:p>
          <a:p>
            <a:pPr indent="0" lvl="0" marL="0" marR="0" rtl="0" algn="l">
              <a:lnSpc>
                <a:spcPct val="129000"/>
              </a:lnSpc>
              <a:spcBef>
                <a:spcPts val="0"/>
              </a:spcBef>
              <a:spcAft>
                <a:spcPts val="0"/>
              </a:spcAft>
              <a:buClr>
                <a:srgbClr val="111111"/>
              </a:buClr>
              <a:buSzPts val="1000"/>
              <a:buFont typeface="Tinos"/>
              <a:buNone/>
            </a:pPr>
            <a:r>
              <a:rPr lang="en-US" sz="1000">
                <a:solidFill>
                  <a:srgbClr val="111111"/>
                </a:solidFill>
                <a:latin typeface="Tinos"/>
                <a:ea typeface="Tinos"/>
                <a:cs typeface="Tinos"/>
                <a:sym typeface="Tinos"/>
              </a:rPr>
              <a:t>Ссылка на код: </a:t>
            </a:r>
            <a:r>
              <a:rPr lang="en-US" sz="1000" u="sng">
                <a:solidFill>
                  <a:schemeClr val="hlink"/>
                </a:solidFill>
                <a:latin typeface="Tinos"/>
                <a:ea typeface="Tinos"/>
                <a:cs typeface="Tinos"/>
                <a:sym typeface="Tinos"/>
                <a:hlinkClick r:id="rId3"/>
              </a:rPr>
              <a:t>https://github.com/MarwanShehata/Lab-1/</a:t>
            </a:r>
            <a:endParaRPr sz="1000">
              <a:solidFill>
                <a:srgbClr val="111111"/>
              </a:solidFill>
              <a:latin typeface="Tinos"/>
              <a:ea typeface="Tinos"/>
              <a:cs typeface="Tinos"/>
              <a:sym typeface="Tinos"/>
            </a:endParaRPr>
          </a:p>
        </p:txBody>
      </p:sp>
      <p:sp>
        <p:nvSpPr>
          <p:cNvPr id="38" name="Google Shape;38;p4"/>
          <p:cNvSpPr/>
          <p:nvPr/>
        </p:nvSpPr>
        <p:spPr>
          <a:xfrm>
            <a:off x="4415526" y="4206461"/>
            <a:ext cx="2638607"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66666"/>
              </a:buClr>
              <a:buSzPts val="1350"/>
              <a:buFont typeface="Tinos"/>
              <a:buNone/>
            </a:pPr>
            <a:r>
              <a:rPr b="1" i="0" lang="en-US" sz="1350" u="none" cap="none" strike="noStrike">
                <a:solidFill>
                  <a:srgbClr val="666666"/>
                </a:solidFill>
                <a:latin typeface="Tinos"/>
                <a:ea typeface="Tinos"/>
                <a:cs typeface="Tinos"/>
                <a:sym typeface="Tinos"/>
              </a:rPr>
              <a:t>Инструменты</a:t>
            </a:r>
            <a:endParaRPr b="0" i="0" sz="1350" u="none" cap="none" strike="noStrike">
              <a:solidFill>
                <a:schemeClr val="dk1"/>
              </a:solidFill>
              <a:latin typeface="Calibri"/>
              <a:ea typeface="Calibri"/>
              <a:cs typeface="Calibri"/>
              <a:sym typeface="Calibri"/>
            </a:endParaRPr>
          </a:p>
        </p:txBody>
      </p:sp>
      <p:sp>
        <p:nvSpPr>
          <p:cNvPr id="39" name="Google Shape;39;p4"/>
          <p:cNvSpPr/>
          <p:nvPr/>
        </p:nvSpPr>
        <p:spPr>
          <a:xfrm>
            <a:off x="4415526" y="4568642"/>
            <a:ext cx="2638607" cy="984340"/>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Python</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pandas</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NumPy</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Matplotlib</a:t>
            </a:r>
            <a:endParaRPr b="0" i="0" sz="1000" u="none" cap="none" strike="noStrike">
              <a:solidFill>
                <a:schemeClr val="dk1"/>
              </a:solidFill>
              <a:latin typeface="Calibri"/>
              <a:ea typeface="Calibri"/>
              <a:cs typeface="Calibri"/>
              <a:sym typeface="Calibri"/>
            </a:endParaRPr>
          </a:p>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scikit-learn.preprocessing</a:t>
            </a:r>
            <a:endParaRPr b="0" i="0" sz="1000" u="none" cap="none" strike="noStrike">
              <a:solidFill>
                <a:schemeClr val="dk1"/>
              </a:solidFill>
              <a:latin typeface="Calibri"/>
              <a:ea typeface="Calibri"/>
              <a:cs typeface="Calibri"/>
              <a:sym typeface="Calibri"/>
            </a:endParaRPr>
          </a:p>
        </p:txBody>
      </p:sp>
      <p:sp>
        <p:nvSpPr>
          <p:cNvPr id="40" name="Google Shape;40;p4"/>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 name="Shape 45"/>
        <p:cNvGrpSpPr/>
        <p:nvPr/>
      </p:nvGrpSpPr>
      <p:grpSpPr>
        <a:xfrm>
          <a:off x="0" y="0"/>
          <a:ext cx="0" cy="0"/>
          <a:chOff x="0" y="0"/>
          <a:chExt cx="0" cy="0"/>
        </a:xfrm>
      </p:grpSpPr>
      <p:sp>
        <p:nvSpPr>
          <p:cNvPr id="46" name="Google Shape;46;p5"/>
          <p:cNvSpPr/>
          <p:nvPr/>
        </p:nvSpPr>
        <p:spPr>
          <a:xfrm>
            <a:off x="507955" y="535578"/>
            <a:ext cx="6546179" cy="403829"/>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Ход работы и затраченные усилия</a:t>
            </a:r>
            <a:endParaRPr b="0" i="0" sz="3000" u="none" cap="none" strike="noStrike">
              <a:solidFill>
                <a:schemeClr val="dk1"/>
              </a:solidFill>
              <a:latin typeface="Calibri"/>
              <a:ea typeface="Calibri"/>
              <a:cs typeface="Calibri"/>
              <a:sym typeface="Calibri"/>
            </a:endParaRPr>
          </a:p>
        </p:txBody>
      </p:sp>
      <p:sp>
        <p:nvSpPr>
          <p:cNvPr id="47" name="Google Shape;47;p5"/>
          <p:cNvSpPr/>
          <p:nvPr/>
        </p:nvSpPr>
        <p:spPr>
          <a:xfrm>
            <a:off x="507955" y="1108590"/>
            <a:ext cx="6546179" cy="45712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Работа выполнялась в шесть этапов, каждый из которых опирался на массив, подготовленный на предыдущем.</a:t>
            </a:r>
            <a:endParaRPr b="0" i="0" sz="1200" u="none" cap="none" strike="noStrike">
              <a:solidFill>
                <a:schemeClr val="dk1"/>
              </a:solidFill>
              <a:latin typeface="Calibri"/>
              <a:ea typeface="Calibri"/>
              <a:cs typeface="Calibri"/>
              <a:sym typeface="Calibri"/>
            </a:endParaRPr>
          </a:p>
        </p:txBody>
      </p:sp>
      <p:sp>
        <p:nvSpPr>
          <p:cNvPr id="48" name="Google Shape;48;p5"/>
          <p:cNvSpPr/>
          <p:nvPr/>
        </p:nvSpPr>
        <p:spPr>
          <a:xfrm>
            <a:off x="507955" y="1737165"/>
            <a:ext cx="517801" cy="279394"/>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666666"/>
              </a:buClr>
              <a:buSzPts val="2200"/>
              <a:buFont typeface="Tinos"/>
              <a:buNone/>
            </a:pPr>
            <a:r>
              <a:rPr b="0" i="0" lang="en-US" sz="2200" u="none" cap="none" strike="noStrike">
                <a:solidFill>
                  <a:srgbClr val="666666"/>
                </a:solidFill>
                <a:latin typeface="Tinos"/>
                <a:ea typeface="Tinos"/>
                <a:cs typeface="Tinos"/>
                <a:sym typeface="Tinos"/>
              </a:rPr>
              <a:t>1</a:t>
            </a:r>
            <a:endParaRPr b="0" i="0" sz="2200" u="none" cap="none" strike="noStrike">
              <a:solidFill>
                <a:schemeClr val="dk1"/>
              </a:solidFill>
              <a:latin typeface="Calibri"/>
              <a:ea typeface="Calibri"/>
              <a:cs typeface="Calibri"/>
              <a:sym typeface="Calibri"/>
            </a:endParaRPr>
          </a:p>
        </p:txBody>
      </p:sp>
      <p:sp>
        <p:nvSpPr>
          <p:cNvPr id="49" name="Google Shape;49;p5"/>
          <p:cNvSpPr/>
          <p:nvPr/>
        </p:nvSpPr>
        <p:spPr>
          <a:xfrm>
            <a:off x="774609" y="1743503"/>
            <a:ext cx="6279524" cy="53331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Загрузить и отфильтровать данные, построить исходные гистограммы каждого признака.</a:t>
            </a:r>
            <a:endParaRPr b="0" i="0" sz="1400" u="none" cap="none" strike="noStrike">
              <a:solidFill>
                <a:schemeClr val="dk1"/>
              </a:solidFill>
              <a:latin typeface="Calibri"/>
              <a:ea typeface="Calibri"/>
              <a:cs typeface="Calibri"/>
              <a:sym typeface="Calibri"/>
            </a:endParaRPr>
          </a:p>
        </p:txBody>
      </p:sp>
      <p:sp>
        <p:nvSpPr>
          <p:cNvPr id="50" name="Google Shape;50;p5"/>
          <p:cNvSpPr/>
          <p:nvPr/>
        </p:nvSpPr>
        <p:spPr>
          <a:xfrm>
            <a:off x="507955" y="2575223"/>
            <a:ext cx="517801" cy="279394"/>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666666"/>
              </a:buClr>
              <a:buSzPts val="2200"/>
              <a:buFont typeface="Tinos"/>
              <a:buNone/>
            </a:pPr>
            <a:r>
              <a:rPr b="0" i="0" lang="en-US" sz="2200" u="none" cap="none" strike="noStrike">
                <a:solidFill>
                  <a:srgbClr val="666666"/>
                </a:solidFill>
                <a:latin typeface="Tinos"/>
                <a:ea typeface="Tinos"/>
                <a:cs typeface="Tinos"/>
                <a:sym typeface="Tinos"/>
              </a:rPr>
              <a:t>2</a:t>
            </a:r>
            <a:endParaRPr b="0" i="0" sz="2200" u="none" cap="none" strike="noStrike">
              <a:solidFill>
                <a:schemeClr val="dk1"/>
              </a:solidFill>
              <a:latin typeface="Calibri"/>
              <a:ea typeface="Calibri"/>
              <a:cs typeface="Calibri"/>
              <a:sym typeface="Calibri"/>
            </a:endParaRPr>
          </a:p>
        </p:txBody>
      </p:sp>
      <p:sp>
        <p:nvSpPr>
          <p:cNvPr id="51" name="Google Shape;51;p5"/>
          <p:cNvSpPr/>
          <p:nvPr/>
        </p:nvSpPr>
        <p:spPr>
          <a:xfrm>
            <a:off x="774609" y="2581562"/>
            <a:ext cx="6279524" cy="53331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Преобразовать датафрейм в массив NumPy типа float для трансформеров scikit-learn.</a:t>
            </a:r>
            <a:endParaRPr b="0" i="0" sz="1400" u="none" cap="none" strike="noStrike">
              <a:solidFill>
                <a:schemeClr val="dk1"/>
              </a:solidFill>
              <a:latin typeface="Calibri"/>
              <a:ea typeface="Calibri"/>
              <a:cs typeface="Calibri"/>
              <a:sym typeface="Calibri"/>
            </a:endParaRPr>
          </a:p>
        </p:txBody>
      </p:sp>
      <p:sp>
        <p:nvSpPr>
          <p:cNvPr id="52" name="Google Shape;52;p5"/>
          <p:cNvSpPr/>
          <p:nvPr/>
        </p:nvSpPr>
        <p:spPr>
          <a:xfrm>
            <a:off x="507955" y="3413281"/>
            <a:ext cx="517801" cy="279394"/>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666666"/>
              </a:buClr>
              <a:buSzPts val="2200"/>
              <a:buFont typeface="Tinos"/>
              <a:buNone/>
            </a:pPr>
            <a:r>
              <a:rPr b="0" i="0" lang="en-US" sz="2200" u="none" cap="none" strike="noStrike">
                <a:solidFill>
                  <a:srgbClr val="666666"/>
                </a:solidFill>
                <a:latin typeface="Tinos"/>
                <a:ea typeface="Tinos"/>
                <a:cs typeface="Tinos"/>
                <a:sym typeface="Tinos"/>
              </a:rPr>
              <a:t>3</a:t>
            </a:r>
            <a:endParaRPr b="0" i="0" sz="2200" u="none" cap="none" strike="noStrike">
              <a:solidFill>
                <a:schemeClr val="dk1"/>
              </a:solidFill>
              <a:latin typeface="Calibri"/>
              <a:ea typeface="Calibri"/>
              <a:cs typeface="Calibri"/>
              <a:sym typeface="Calibri"/>
            </a:endParaRPr>
          </a:p>
        </p:txBody>
      </p:sp>
      <p:sp>
        <p:nvSpPr>
          <p:cNvPr id="53" name="Google Shape;53;p5"/>
          <p:cNvSpPr/>
          <p:nvPr/>
        </p:nvSpPr>
        <p:spPr>
          <a:xfrm>
            <a:off x="774609" y="3419620"/>
            <a:ext cx="6279524" cy="53331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Обучить StandardScaler на первых 150 строках, затем на всех 299; проверить формулу вручную.</a:t>
            </a:r>
            <a:endParaRPr b="0" i="0" sz="1400" u="none" cap="none" strike="noStrike">
              <a:solidFill>
                <a:schemeClr val="dk1"/>
              </a:solidFill>
              <a:latin typeface="Calibri"/>
              <a:ea typeface="Calibri"/>
              <a:cs typeface="Calibri"/>
              <a:sym typeface="Calibri"/>
            </a:endParaRPr>
          </a:p>
        </p:txBody>
      </p:sp>
      <p:sp>
        <p:nvSpPr>
          <p:cNvPr id="54" name="Google Shape;54;p5"/>
          <p:cNvSpPr/>
          <p:nvPr/>
        </p:nvSpPr>
        <p:spPr>
          <a:xfrm>
            <a:off x="507955" y="4251340"/>
            <a:ext cx="517801" cy="279394"/>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666666"/>
              </a:buClr>
              <a:buSzPts val="2200"/>
              <a:buFont typeface="Tinos"/>
              <a:buNone/>
            </a:pPr>
            <a:r>
              <a:rPr b="0" i="0" lang="en-US" sz="2200" u="none" cap="none" strike="noStrike">
                <a:solidFill>
                  <a:srgbClr val="666666"/>
                </a:solidFill>
                <a:latin typeface="Tinos"/>
                <a:ea typeface="Tinos"/>
                <a:cs typeface="Tinos"/>
                <a:sym typeface="Tinos"/>
              </a:rPr>
              <a:t>4</a:t>
            </a:r>
            <a:endParaRPr b="0" i="0" sz="2200" u="none" cap="none" strike="noStrike">
              <a:solidFill>
                <a:schemeClr val="dk1"/>
              </a:solidFill>
              <a:latin typeface="Calibri"/>
              <a:ea typeface="Calibri"/>
              <a:cs typeface="Calibri"/>
              <a:sym typeface="Calibri"/>
            </a:endParaRPr>
          </a:p>
        </p:txBody>
      </p:sp>
      <p:sp>
        <p:nvSpPr>
          <p:cNvPr id="55" name="Google Shape;55;p5"/>
          <p:cNvSpPr/>
          <p:nvPr/>
        </p:nvSpPr>
        <p:spPr>
          <a:xfrm>
            <a:off x="774609" y="4257678"/>
            <a:ext cx="6279524" cy="53331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Применить MinMaxScaler, MaxAbsScaler, RobustScaler и собственную функцию масштабирования к [-5, 10].</a:t>
            </a:r>
            <a:endParaRPr b="0" i="0" sz="1400" u="none" cap="none" strike="noStrike">
              <a:solidFill>
                <a:schemeClr val="dk1"/>
              </a:solidFill>
              <a:latin typeface="Calibri"/>
              <a:ea typeface="Calibri"/>
              <a:cs typeface="Calibri"/>
              <a:sym typeface="Calibri"/>
            </a:endParaRPr>
          </a:p>
        </p:txBody>
      </p:sp>
      <p:sp>
        <p:nvSpPr>
          <p:cNvPr id="56" name="Google Shape;56;p5"/>
          <p:cNvSpPr/>
          <p:nvPr/>
        </p:nvSpPr>
        <p:spPr>
          <a:xfrm>
            <a:off x="507955" y="5089398"/>
            <a:ext cx="517801" cy="279394"/>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666666"/>
              </a:buClr>
              <a:buSzPts val="2200"/>
              <a:buFont typeface="Tinos"/>
              <a:buNone/>
            </a:pPr>
            <a:r>
              <a:rPr b="0" i="0" lang="en-US" sz="2200" u="none" cap="none" strike="noStrike">
                <a:solidFill>
                  <a:srgbClr val="666666"/>
                </a:solidFill>
                <a:latin typeface="Tinos"/>
                <a:ea typeface="Tinos"/>
                <a:cs typeface="Tinos"/>
                <a:sym typeface="Tinos"/>
              </a:rPr>
              <a:t>5</a:t>
            </a:r>
            <a:endParaRPr b="0" i="0" sz="2200" u="none" cap="none" strike="noStrike">
              <a:solidFill>
                <a:schemeClr val="dk1"/>
              </a:solidFill>
              <a:latin typeface="Calibri"/>
              <a:ea typeface="Calibri"/>
              <a:cs typeface="Calibri"/>
              <a:sym typeface="Calibri"/>
            </a:endParaRPr>
          </a:p>
        </p:txBody>
      </p:sp>
      <p:sp>
        <p:nvSpPr>
          <p:cNvPr id="57" name="Google Shape;57;p5"/>
          <p:cNvSpPr/>
          <p:nvPr/>
        </p:nvSpPr>
        <p:spPr>
          <a:xfrm>
            <a:off x="774609" y="5095737"/>
            <a:ext cx="6279524" cy="53331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Применить QuantileTransformer (равномерный и нормальный выход) и PowerTransformer.</a:t>
            </a:r>
            <a:endParaRPr b="0" i="0" sz="1400" u="none" cap="none" strike="noStrike">
              <a:solidFill>
                <a:schemeClr val="dk1"/>
              </a:solidFill>
              <a:latin typeface="Calibri"/>
              <a:ea typeface="Calibri"/>
              <a:cs typeface="Calibri"/>
              <a:sym typeface="Calibri"/>
            </a:endParaRPr>
          </a:p>
        </p:txBody>
      </p:sp>
      <p:sp>
        <p:nvSpPr>
          <p:cNvPr id="58" name="Google Shape;58;p5"/>
          <p:cNvSpPr/>
          <p:nvPr/>
        </p:nvSpPr>
        <p:spPr>
          <a:xfrm>
            <a:off x="507955" y="5927456"/>
            <a:ext cx="517801" cy="279394"/>
          </a:xfrm>
          <a:prstGeom prst="rect">
            <a:avLst/>
          </a:prstGeom>
          <a:noFill/>
          <a:ln>
            <a:noFill/>
          </a:ln>
        </p:spPr>
        <p:txBody>
          <a:bodyPr anchorCtr="0" anchor="t" bIns="0" lIns="0" spcFirstLastPara="1" rIns="0" wrap="square" tIns="0">
            <a:noAutofit/>
          </a:bodyPr>
          <a:lstStyle/>
          <a:p>
            <a:pPr indent="0" lvl="0" marL="0" marR="0" rtl="0" algn="l">
              <a:lnSpc>
                <a:spcPct val="83000"/>
              </a:lnSpc>
              <a:spcBef>
                <a:spcPts val="0"/>
              </a:spcBef>
              <a:spcAft>
                <a:spcPts val="0"/>
              </a:spcAft>
              <a:buClr>
                <a:srgbClr val="666666"/>
              </a:buClr>
              <a:buSzPts val="2200"/>
              <a:buFont typeface="Tinos"/>
              <a:buNone/>
            </a:pPr>
            <a:r>
              <a:rPr b="0" i="0" lang="en-US" sz="2200" u="none" cap="none" strike="noStrike">
                <a:solidFill>
                  <a:srgbClr val="666666"/>
                </a:solidFill>
                <a:latin typeface="Tinos"/>
                <a:ea typeface="Tinos"/>
                <a:cs typeface="Tinos"/>
                <a:sym typeface="Tinos"/>
              </a:rPr>
              <a:t>6</a:t>
            </a:r>
            <a:endParaRPr b="0" i="0" sz="2200" u="none" cap="none" strike="noStrike">
              <a:solidFill>
                <a:schemeClr val="dk1"/>
              </a:solidFill>
              <a:latin typeface="Calibri"/>
              <a:ea typeface="Calibri"/>
              <a:cs typeface="Calibri"/>
              <a:sym typeface="Calibri"/>
            </a:endParaRPr>
          </a:p>
        </p:txBody>
      </p:sp>
      <p:sp>
        <p:nvSpPr>
          <p:cNvPr id="59" name="Google Shape;59;p5"/>
          <p:cNvSpPr/>
          <p:nvPr/>
        </p:nvSpPr>
        <p:spPr>
          <a:xfrm>
            <a:off x="774609" y="5933795"/>
            <a:ext cx="6279524" cy="53331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Выполнить дискретизацию KBinsDiscretizer с отдельным числом интервалов для каждого признака.</a:t>
            </a:r>
            <a:endParaRPr b="0" i="0" sz="1400" u="none" cap="none" strike="noStrike">
              <a:solidFill>
                <a:schemeClr val="dk1"/>
              </a:solidFill>
              <a:latin typeface="Calibri"/>
              <a:ea typeface="Calibri"/>
              <a:cs typeface="Calibri"/>
              <a:sym typeface="Calibri"/>
            </a:endParaRPr>
          </a:p>
        </p:txBody>
      </p:sp>
      <p:sp>
        <p:nvSpPr>
          <p:cNvPr id="60" name="Google Shape;60;p5"/>
          <p:cNvSpPr/>
          <p:nvPr/>
        </p:nvSpPr>
        <p:spPr>
          <a:xfrm>
            <a:off x="507955" y="6644895"/>
            <a:ext cx="6546179" cy="2217796"/>
          </a:xfrm>
          <a:prstGeom prst="rect">
            <a:avLst/>
          </a:prstGeom>
          <a:solidFill>
            <a:srgbClr val="FFFFFF"/>
          </a:solidFill>
          <a:ln cap="flat" cmpd="sng" w="11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5"/>
          <p:cNvSpPr/>
          <p:nvPr/>
        </p:nvSpPr>
        <p:spPr>
          <a:xfrm>
            <a:off x="748332" y="6888765"/>
            <a:ext cx="6065425"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66666"/>
              </a:buClr>
              <a:buSzPts val="1350"/>
              <a:buFont typeface="Tinos"/>
              <a:buNone/>
            </a:pPr>
            <a:r>
              <a:rPr b="1" i="0" lang="en-US" sz="1350" u="none" cap="none" strike="noStrike">
                <a:solidFill>
                  <a:srgbClr val="666666"/>
                </a:solidFill>
                <a:latin typeface="Tinos"/>
                <a:ea typeface="Tinos"/>
                <a:cs typeface="Tinos"/>
                <a:sym typeface="Tinos"/>
              </a:rPr>
              <a:t>Время и усилия</a:t>
            </a:r>
            <a:endParaRPr b="0" i="0" sz="1350" u="none" cap="none" strike="noStrike">
              <a:solidFill>
                <a:schemeClr val="dk1"/>
              </a:solidFill>
              <a:latin typeface="Calibri"/>
              <a:ea typeface="Calibri"/>
              <a:cs typeface="Calibri"/>
              <a:sym typeface="Calibri"/>
            </a:endParaRPr>
          </a:p>
        </p:txBody>
      </p:sp>
      <p:sp>
        <p:nvSpPr>
          <p:cNvPr id="62" name="Google Shape;62;p5"/>
          <p:cNvSpPr/>
          <p:nvPr/>
        </p:nvSpPr>
        <p:spPr>
          <a:xfrm>
            <a:off x="748332" y="7250946"/>
            <a:ext cx="6065425" cy="137136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Значительная часть времени ушла на изучение темы, чтобы освежить понимание концепций предобработки, интерфейсов масштабировщиков и трансформеров scikit-learn, а также статистики: дисперсии, межквартильного размаха и квантилей. Мои предыдущие знания и опыт несколько отличались от рассматриваемого материала, поэтому такое повторение было необходимо, чтобы уверенно применять методы. Остальное время было посвящено реализации, отладке и оформлению результатов.</a:t>
            </a:r>
            <a:endParaRPr b="0" i="0" sz="1200" u="none" cap="none" strike="noStrike">
              <a:solidFill>
                <a:schemeClr val="dk1"/>
              </a:solidFill>
              <a:latin typeface="Calibri"/>
              <a:ea typeface="Calibri"/>
              <a:cs typeface="Calibri"/>
              <a:sym typeface="Calibri"/>
            </a:endParaRPr>
          </a:p>
        </p:txBody>
      </p:sp>
      <p:sp>
        <p:nvSpPr>
          <p:cNvPr id="63" name="Google Shape;63;p5"/>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8" name="Shape 68"/>
        <p:cNvGrpSpPr/>
        <p:nvPr/>
      </p:nvGrpSpPr>
      <p:grpSpPr>
        <a:xfrm>
          <a:off x="0" y="0"/>
          <a:ext cx="0" cy="0"/>
          <a:chOff x="0" y="0"/>
          <a:chExt cx="0" cy="0"/>
        </a:xfrm>
      </p:grpSpPr>
      <p:sp>
        <p:nvSpPr>
          <p:cNvPr id="69" name="Google Shape;69;p6"/>
          <p:cNvSpPr/>
          <p:nvPr/>
        </p:nvSpPr>
        <p:spPr>
          <a:xfrm>
            <a:off x="507955" y="662597"/>
            <a:ext cx="6546179" cy="807657"/>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Исходные данные: диапазоны и типичные значения</a:t>
            </a:r>
            <a:endParaRPr b="0" i="0" sz="3000" u="none" cap="none" strike="noStrike">
              <a:solidFill>
                <a:schemeClr val="dk1"/>
              </a:solidFill>
              <a:latin typeface="Calibri"/>
              <a:ea typeface="Calibri"/>
              <a:cs typeface="Calibri"/>
              <a:sym typeface="Calibri"/>
            </a:endParaRPr>
          </a:p>
        </p:txBody>
      </p:sp>
      <p:sp>
        <p:nvSpPr>
          <p:cNvPr id="70" name="Google Shape;70;p6"/>
          <p:cNvSpPr/>
          <p:nvPr/>
        </p:nvSpPr>
        <p:spPr>
          <a:xfrm>
            <a:off x="507955" y="1639439"/>
            <a:ext cx="6546179" cy="45712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Перед любыми преобразованиями я изучил исходные распределения и диапазоны признаков. В таблице 1 приведены минимум, максимум и медиана шести непрерывных признаков.</a:t>
            </a:r>
            <a:endParaRPr b="0" i="0" sz="1200" u="none" cap="none" strike="noStrike">
              <a:solidFill>
                <a:schemeClr val="dk1"/>
              </a:solidFill>
              <a:latin typeface="Calibri"/>
              <a:ea typeface="Calibri"/>
              <a:cs typeface="Calibri"/>
              <a:sym typeface="Calibri"/>
            </a:endParaRPr>
          </a:p>
        </p:txBody>
      </p:sp>
      <p:sp>
        <p:nvSpPr>
          <p:cNvPr id="71" name="Google Shape;71;p6"/>
          <p:cNvSpPr/>
          <p:nvPr/>
        </p:nvSpPr>
        <p:spPr>
          <a:xfrm>
            <a:off x="507955" y="2274352"/>
            <a:ext cx="6546179" cy="283461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72" name="Google Shape;72;p6"/>
          <p:cNvGraphicFramePr/>
          <p:nvPr/>
        </p:nvGraphicFramePr>
        <p:xfrm>
          <a:off x="736516" y="2502913"/>
          <a:ext cx="3000000" cy="3000000"/>
        </p:xfrm>
        <a:graphic>
          <a:graphicData uri="http://schemas.openxmlformats.org/drawingml/2006/table">
            <a:tbl>
              <a:tblPr>
                <a:noFill/>
                <a:tableStyleId>{440C591E-2DB2-4C24-8F66-90C028B987D7}</a:tableStyleId>
              </a:tblPr>
              <a:tblGrid>
                <a:gridCol w="2435650"/>
                <a:gridCol w="1217750"/>
                <a:gridCol w="1217750"/>
                <a:gridCol w="1217875"/>
              </a:tblGrid>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Признак</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Мин.</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Макс.</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Медиана</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age</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40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95</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60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creatinine_phosphokinase</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23</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7861</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250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ejection_fraction</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14</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80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38</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platelets</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25100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850000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262000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serum_creatinine</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0.5</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9.4</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1.1</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2075">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serum_sodium</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113</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148</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137</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r>
            </a:tbl>
          </a:graphicData>
        </a:graphic>
      </p:graphicFrame>
      <p:sp>
        <p:nvSpPr>
          <p:cNvPr id="73" name="Google Shape;73;p6"/>
          <p:cNvSpPr/>
          <p:nvPr/>
        </p:nvSpPr>
        <p:spPr>
          <a:xfrm>
            <a:off x="736516" y="4708955"/>
            <a:ext cx="6317617" cy="171452"/>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666666"/>
              </a:buClr>
              <a:buSzPts val="1000"/>
              <a:buFont typeface="Tinos"/>
              <a:buNone/>
            </a:pPr>
            <a:r>
              <a:rPr b="1" i="0" lang="en-US" sz="1000" u="none" cap="none" strike="noStrike">
                <a:solidFill>
                  <a:srgbClr val="666666"/>
                </a:solidFill>
                <a:latin typeface="Tinos"/>
                <a:ea typeface="Tinos"/>
                <a:cs typeface="Tinos"/>
                <a:sym typeface="Tinos"/>
              </a:rPr>
              <a:t>Таблица 1</a:t>
            </a:r>
            <a:r>
              <a:rPr b="0" i="0" lang="en-US" sz="1000" u="none" cap="none" strike="noStrike">
                <a:solidFill>
                  <a:srgbClr val="000000"/>
                </a:solidFill>
                <a:latin typeface="Tinos"/>
                <a:ea typeface="Tinos"/>
                <a:cs typeface="Tinos"/>
                <a:sym typeface="Tinos"/>
              </a:rPr>
              <a:t> Диапазоны и медианы признаков в исходных данных. </a:t>
            </a:r>
            <a:r>
              <a:rPr b="1" i="0" lang="en-US" sz="1000" u="none" cap="none" strike="noStrike">
                <a:solidFill>
                  <a:srgbClr val="666666"/>
                </a:solidFill>
                <a:latin typeface="Tinos"/>
                <a:ea typeface="Tinos"/>
                <a:cs typeface="Tinos"/>
                <a:sym typeface="Tinos"/>
              </a:rPr>
              <a:t>[Вопрос 1, Задание 4]</a:t>
            </a:r>
            <a:endParaRPr b="0" i="0" sz="1000" u="none" cap="none" strike="noStrike">
              <a:solidFill>
                <a:schemeClr val="dk1"/>
              </a:solidFill>
              <a:latin typeface="Calibri"/>
              <a:ea typeface="Calibri"/>
              <a:cs typeface="Calibri"/>
              <a:sym typeface="Calibri"/>
            </a:endParaRPr>
          </a:p>
        </p:txBody>
      </p:sp>
      <p:sp>
        <p:nvSpPr>
          <p:cNvPr id="74" name="Google Shape;74;p6"/>
          <p:cNvSpPr/>
          <p:nvPr/>
        </p:nvSpPr>
        <p:spPr>
          <a:xfrm>
            <a:off x="507955" y="5286758"/>
            <a:ext cx="3044528" cy="114280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creatinine_phosphokinase и serum_creatinine имеют сильную левостороннюю асимметрию с длинными хвостами, а serum_sodium — правостороннюю. Остальные признаки ближе к симметричным. </a:t>
            </a:r>
            <a:r>
              <a:rPr b="1" i="0" lang="en-US" sz="1200" u="none" cap="none" strike="noStrike">
                <a:solidFill>
                  <a:srgbClr val="111111"/>
                </a:solidFill>
                <a:latin typeface="Tinos"/>
                <a:ea typeface="Tinos"/>
                <a:cs typeface="Tinos"/>
                <a:sym typeface="Tinos"/>
              </a:rPr>
              <a:t>[Вопрос 1, Задание 4]</a:t>
            </a:r>
            <a:endParaRPr b="0" i="0" sz="1200" u="none" cap="none" strike="noStrike">
              <a:solidFill>
                <a:schemeClr val="dk1"/>
              </a:solidFill>
              <a:latin typeface="Calibri"/>
              <a:ea typeface="Calibri"/>
              <a:cs typeface="Calibri"/>
              <a:sym typeface="Calibri"/>
            </a:endParaRPr>
          </a:p>
        </p:txBody>
      </p:sp>
      <p:sp>
        <p:nvSpPr>
          <p:cNvPr id="75" name="Google Shape;75;p6"/>
          <p:cNvSpPr/>
          <p:nvPr/>
        </p:nvSpPr>
        <p:spPr>
          <a:xfrm>
            <a:off x="4009605" y="5286758"/>
            <a:ext cx="3044528" cy="114280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Масштабы признаков различаются до пяти порядков, от serum_creatinine около 1 до platelets в сотнях тысяч, что и обосновывает необходимость масштабирования. </a:t>
            </a:r>
            <a:r>
              <a:rPr b="1" i="0" lang="en-US" sz="1200" u="none" cap="none" strike="noStrike">
                <a:solidFill>
                  <a:srgbClr val="111111"/>
                </a:solidFill>
                <a:latin typeface="Tinos"/>
                <a:ea typeface="Tinos"/>
                <a:cs typeface="Tinos"/>
                <a:sym typeface="Tinos"/>
              </a:rPr>
              <a:t>[Вопрос 1, Задание 4]</a:t>
            </a:r>
            <a:endParaRPr b="0" i="0" sz="1200" u="none" cap="none" strike="noStrike">
              <a:solidFill>
                <a:schemeClr val="dk1"/>
              </a:solidFill>
              <a:latin typeface="Calibri"/>
              <a:ea typeface="Calibri"/>
              <a:cs typeface="Calibri"/>
              <a:sym typeface="Calibri"/>
            </a:endParaRPr>
          </a:p>
        </p:txBody>
      </p:sp>
      <p:sp>
        <p:nvSpPr>
          <p:cNvPr id="76" name="Google Shape;76;p6"/>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1" name="Shape 81"/>
        <p:cNvGrpSpPr/>
        <p:nvPr/>
      </p:nvGrpSpPr>
      <p:grpSpPr>
        <a:xfrm>
          <a:off x="0" y="0"/>
          <a:ext cx="0" cy="0"/>
          <a:chOff x="0" y="0"/>
          <a:chExt cx="0" cy="0"/>
        </a:xfrm>
      </p:grpSpPr>
      <p:pic>
        <p:nvPicPr>
          <p:cNvPr descr="preencoded.png" id="82" name="Google Shape;82;p7"/>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83" name="Google Shape;83;p7"/>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1.</a:t>
            </a:r>
            <a:r>
              <a:rPr b="0" i="0" lang="en-US" sz="1000" u="none" cap="none" strike="noStrike">
                <a:solidFill>
                  <a:srgbClr val="333333"/>
                </a:solidFill>
                <a:latin typeface="Tinos"/>
                <a:ea typeface="Tinos"/>
                <a:cs typeface="Tinos"/>
                <a:sym typeface="Tinos"/>
              </a:rPr>
              <a:t> Распределения исходных данных до стандартизации. </a:t>
            </a:r>
            <a:r>
              <a:rPr b="1" i="0" lang="en-US" sz="1000" u="none" cap="none" strike="noStrike">
                <a:solidFill>
                  <a:srgbClr val="333333"/>
                </a:solidFill>
                <a:latin typeface="Tinos"/>
                <a:ea typeface="Tinos"/>
                <a:cs typeface="Tinos"/>
                <a:sym typeface="Tinos"/>
              </a:rPr>
              <a:t>[Вопрос 1, Задание 3]</a:t>
            </a:r>
            <a:endParaRPr b="0" i="0" sz="1000" u="none" cap="none" strike="noStrike">
              <a:solidFill>
                <a:schemeClr val="dk1"/>
              </a:solidFill>
              <a:latin typeface="Calibri"/>
              <a:ea typeface="Calibri"/>
              <a:cs typeface="Calibri"/>
              <a:sym typeface="Calibri"/>
            </a:endParaRPr>
          </a:p>
        </p:txBody>
      </p:sp>
      <p:sp>
        <p:nvSpPr>
          <p:cNvPr id="84" name="Google Shape;84;p7"/>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9" name="Shape 89"/>
        <p:cNvGrpSpPr/>
        <p:nvPr/>
      </p:nvGrpSpPr>
      <p:grpSpPr>
        <a:xfrm>
          <a:off x="0" y="0"/>
          <a:ext cx="0" cy="0"/>
          <a:chOff x="0" y="0"/>
          <a:chExt cx="0" cy="0"/>
        </a:xfrm>
      </p:grpSpPr>
      <p:sp>
        <p:nvSpPr>
          <p:cNvPr id="90" name="Google Shape;90;p8"/>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FFFFFF"/>
              </a:buClr>
              <a:buSzPts val="15000"/>
              <a:buFont typeface="Tinos"/>
              <a:buNone/>
            </a:pPr>
            <a:r>
              <a:rPr b="1" i="0" lang="en-US" sz="15000" u="none" cap="none" strike="noStrike">
                <a:solidFill>
                  <a:srgbClr val="FFFFFF"/>
                </a:solidFill>
                <a:latin typeface="Tinos"/>
                <a:ea typeface="Tinos"/>
                <a:cs typeface="Tinos"/>
                <a:sym typeface="Tinos"/>
              </a:rPr>
              <a:t>С</a:t>
            </a:r>
            <a:endParaRPr b="0" i="0" sz="15000" u="none" cap="none" strike="noStrike">
              <a:solidFill>
                <a:schemeClr val="dk1"/>
              </a:solidFill>
              <a:latin typeface="Calibri"/>
              <a:ea typeface="Calibri"/>
              <a:cs typeface="Calibri"/>
              <a:sym typeface="Calibri"/>
            </a:endParaRPr>
          </a:p>
        </p:txBody>
      </p:sp>
      <p:sp>
        <p:nvSpPr>
          <p:cNvPr id="91" name="Google Shape;91;p8"/>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000000"/>
              </a:buClr>
              <a:buSzPts val="15000"/>
              <a:buFont typeface="Tinos"/>
              <a:buNone/>
            </a:pPr>
            <a:r>
              <a:rPr b="1" i="0" lang="en-US" sz="15000" u="none" cap="none" strike="noStrike">
                <a:solidFill>
                  <a:srgbClr val="000000"/>
                </a:solidFill>
                <a:latin typeface="Tinos"/>
                <a:ea typeface="Tinos"/>
                <a:cs typeface="Tinos"/>
                <a:sym typeface="Tinos"/>
              </a:rPr>
              <a:t>С</a:t>
            </a:r>
            <a:endParaRPr b="0" i="0" sz="15000" u="none" cap="none" strike="noStrike">
              <a:solidFill>
                <a:schemeClr val="dk1"/>
              </a:solidFill>
              <a:latin typeface="Calibri"/>
              <a:ea typeface="Calibri"/>
              <a:cs typeface="Calibri"/>
              <a:sym typeface="Calibri"/>
            </a:endParaRPr>
          </a:p>
        </p:txBody>
      </p:sp>
      <p:sp>
        <p:nvSpPr>
          <p:cNvPr id="92" name="Google Shape;92;p8"/>
          <p:cNvSpPr/>
          <p:nvPr/>
        </p:nvSpPr>
        <p:spPr>
          <a:xfrm>
            <a:off x="3151793" y="1043594"/>
            <a:ext cx="3902340" cy="403829"/>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Стандартизация</a:t>
            </a:r>
            <a:endParaRPr b="0" i="0" sz="3000" u="none" cap="none" strike="noStrike">
              <a:solidFill>
                <a:schemeClr val="dk1"/>
              </a:solidFill>
              <a:latin typeface="Calibri"/>
              <a:ea typeface="Calibri"/>
              <a:cs typeface="Calibri"/>
              <a:sym typeface="Calibri"/>
            </a:endParaRPr>
          </a:p>
        </p:txBody>
      </p:sp>
      <p:sp>
        <p:nvSpPr>
          <p:cNvPr id="93" name="Google Shape;93;p8"/>
          <p:cNvSpPr/>
          <p:nvPr/>
        </p:nvSpPr>
        <p:spPr>
          <a:xfrm>
            <a:off x="507955" y="2054714"/>
            <a:ext cx="6924283" cy="1968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Генеральная дисперсия: ddof = 0</a:t>
            </a:r>
            <a:endParaRPr b="0" i="0" sz="1000" u="none" cap="none" strike="noStrike">
              <a:solidFill>
                <a:schemeClr val="dk1"/>
              </a:solidFill>
              <a:latin typeface="Calibri"/>
              <a:ea typeface="Calibri"/>
              <a:cs typeface="Calibri"/>
              <a:sym typeface="Calibri"/>
            </a:endParaRPr>
          </a:p>
        </p:txBody>
      </p:sp>
      <p:pic>
        <p:nvPicPr>
          <p:cNvPr descr="preencoded.png" id="94" name="Google Shape;94;p8"/>
          <p:cNvPicPr preferRelativeResize="0"/>
          <p:nvPr/>
        </p:nvPicPr>
        <p:blipFill rotWithShape="1">
          <a:blip r:embed="rId3">
            <a:alphaModFix/>
          </a:blip>
          <a:srcRect b="0" l="0" r="0" t="0"/>
          <a:stretch/>
        </p:blipFill>
        <p:spPr>
          <a:xfrm>
            <a:off x="507955" y="2429372"/>
            <a:ext cx="6546179" cy="403767"/>
          </a:xfrm>
          <a:prstGeom prst="rect">
            <a:avLst/>
          </a:prstGeom>
          <a:noFill/>
          <a:ln>
            <a:noFill/>
          </a:ln>
        </p:spPr>
      </p:pic>
      <p:sp>
        <p:nvSpPr>
          <p:cNvPr id="95" name="Google Shape;95;p8"/>
          <p:cNvSpPr/>
          <p:nvPr/>
        </p:nvSpPr>
        <p:spPr>
          <a:xfrm>
            <a:off x="507955" y="3010930"/>
            <a:ext cx="6546179" cy="45712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Обучение на первых 150 строках: μ = 62.95, 607.15, 37.95, 266746.75, 1.52, 136.45; σ = 12.45, 1189.74, 13.04, 96191.79, 1.17, 4.54. </a:t>
            </a:r>
            <a:r>
              <a:rPr b="1" i="0" lang="en-US" sz="1200" u="none" cap="none" strike="noStrike">
                <a:solidFill>
                  <a:srgbClr val="111111"/>
                </a:solidFill>
                <a:latin typeface="Tinos"/>
                <a:ea typeface="Tinos"/>
                <a:cs typeface="Tinos"/>
                <a:sym typeface="Tinos"/>
              </a:rPr>
              <a:t>[Вопрос 2, Задание 1]</a:t>
            </a:r>
            <a:endParaRPr b="0" i="0" sz="1200" u="none" cap="none" strike="noStrike">
              <a:solidFill>
                <a:schemeClr val="dk1"/>
              </a:solidFill>
              <a:latin typeface="Calibri"/>
              <a:ea typeface="Calibri"/>
              <a:cs typeface="Calibri"/>
              <a:sym typeface="Calibri"/>
            </a:endParaRPr>
          </a:p>
        </p:txBody>
      </p:sp>
      <p:sp>
        <p:nvSpPr>
          <p:cNvPr id="96" name="Google Shape;96;p8"/>
          <p:cNvSpPr/>
          <p:nvPr/>
        </p:nvSpPr>
        <p:spPr>
          <a:xfrm>
            <a:off x="507955" y="3518823"/>
            <a:ext cx="6924283" cy="22856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Формула для отдельного признака, например age: </a:t>
            </a:r>
            <a:r>
              <a:rPr b="0" i="1" lang="en-US" sz="1150" u="none" cap="none" strike="noStrike">
                <a:solidFill>
                  <a:srgbClr val="111111"/>
                </a:solidFill>
                <a:latin typeface="Tinos"/>
                <a:ea typeface="Tinos"/>
                <a:cs typeface="Tinos"/>
                <a:sym typeface="Tinos"/>
              </a:rPr>
              <a:t>          </a:t>
            </a:r>
            <a:r>
              <a:rPr b="0" i="0" lang="en-US" sz="1200" u="none" cap="none" strike="noStrike">
                <a:solidFill>
                  <a:srgbClr val="111111"/>
                </a:solidFill>
                <a:latin typeface="Tinos"/>
                <a:ea typeface="Tinos"/>
                <a:cs typeface="Tinos"/>
                <a:sym typeface="Tinos"/>
              </a:rPr>
              <a:t>. </a:t>
            </a:r>
            <a:r>
              <a:rPr b="1" i="0" lang="en-US" sz="1200" u="none" cap="none" strike="noStrike">
                <a:solidFill>
                  <a:srgbClr val="111111"/>
                </a:solidFill>
                <a:latin typeface="Tinos"/>
                <a:ea typeface="Tinos"/>
                <a:cs typeface="Tinos"/>
                <a:sym typeface="Tinos"/>
              </a:rPr>
              <a:t>[Вопрос 2, Задание 5]</a:t>
            </a:r>
            <a:endParaRPr b="0" i="0" sz="1200" u="none" cap="none" strike="noStrike">
              <a:solidFill>
                <a:schemeClr val="dk1"/>
              </a:solidFill>
              <a:latin typeface="Calibri"/>
              <a:ea typeface="Calibri"/>
              <a:cs typeface="Calibri"/>
              <a:sym typeface="Calibri"/>
            </a:endParaRPr>
          </a:p>
        </p:txBody>
      </p:sp>
      <p:pic>
        <p:nvPicPr>
          <p:cNvPr descr="preencoded.png" id="97" name="Google Shape;97;p8"/>
          <p:cNvPicPr preferRelativeResize="0"/>
          <p:nvPr/>
        </p:nvPicPr>
        <p:blipFill rotWithShape="1">
          <a:blip r:embed="rId4">
            <a:alphaModFix/>
          </a:blip>
          <a:srcRect b="0" l="0" r="0" t="0"/>
          <a:stretch/>
        </p:blipFill>
        <p:spPr>
          <a:xfrm>
            <a:off x="4012621" y="3546394"/>
            <a:ext cx="1428292" cy="190529"/>
          </a:xfrm>
          <a:prstGeom prst="rect">
            <a:avLst/>
          </a:prstGeom>
          <a:noFill/>
          <a:ln>
            <a:noFill/>
          </a:ln>
        </p:spPr>
      </p:pic>
      <p:sp>
        <p:nvSpPr>
          <p:cNvPr id="98" name="Google Shape;98;p8"/>
          <p:cNvSpPr/>
          <p:nvPr/>
        </p:nvSpPr>
        <p:spPr>
          <a:xfrm>
            <a:off x="507955" y="3798156"/>
            <a:ext cx="6546179" cy="965016"/>
          </a:xfrm>
          <a:prstGeom prst="rect">
            <a:avLst/>
          </a:prstGeom>
          <a:noFill/>
          <a:ln>
            <a:noFill/>
          </a:ln>
        </p:spPr>
        <p:txBody>
          <a:bodyPr anchorCtr="0" anchor="t" bIns="0" lIns="0" spcFirstLastPara="1" rIns="0" wrap="square" tIns="0">
            <a:noAutofit/>
          </a:bodyPr>
          <a:lstStyle/>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Ручной расчёт совпал с выходом масштабировщика (np.allclose = True); mean_ и var_ равны среднему и дисперсии NumPy по первым 150 строкам. </a:t>
            </a:r>
            <a:r>
              <a:rPr b="1" i="0" lang="en-US" sz="1200" u="none" cap="none" strike="noStrike">
                <a:solidFill>
                  <a:srgbClr val="111111"/>
                </a:solidFill>
                <a:latin typeface="Tinos"/>
                <a:ea typeface="Tinos"/>
                <a:cs typeface="Tinos"/>
                <a:sym typeface="Tinos"/>
              </a:rPr>
              <a:t>[Вопрос 2, Задание 6]</a:t>
            </a:r>
            <a:endParaRPr b="0" i="0" sz="1200" u="none" cap="none" strike="noStrike">
              <a:solidFill>
                <a:schemeClr val="dk1"/>
              </a:solidFill>
              <a:latin typeface="Calibri"/>
              <a:ea typeface="Calibri"/>
              <a:cs typeface="Calibri"/>
              <a:sym typeface="Calibri"/>
            </a:endParaRPr>
          </a:p>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Обучение на всех 299: μ = 60.83, 581.84, 38.08, 263358.03, 1.39, 136.63; σ = 11.88, 968.66, 11.82, 97640.55, 1.03, 4.41. </a:t>
            </a:r>
            <a:r>
              <a:rPr b="1" i="0" lang="en-US" sz="1200" u="none" cap="none" strike="noStrike">
                <a:solidFill>
                  <a:srgbClr val="111111"/>
                </a:solidFill>
                <a:latin typeface="Tinos"/>
                <a:ea typeface="Tinos"/>
                <a:cs typeface="Tinos"/>
                <a:sym typeface="Tinos"/>
              </a:rPr>
              <a:t>[Вопрос 2, Задание 7]</a:t>
            </a:r>
            <a:endParaRPr b="0" i="0" sz="1200" u="none" cap="none" strike="noStrike">
              <a:solidFill>
                <a:schemeClr val="dk1"/>
              </a:solidFill>
              <a:latin typeface="Calibri"/>
              <a:ea typeface="Calibri"/>
              <a:cs typeface="Calibri"/>
              <a:sym typeface="Calibri"/>
            </a:endParaRPr>
          </a:p>
        </p:txBody>
      </p:sp>
      <p:sp>
        <p:nvSpPr>
          <p:cNvPr id="99" name="Google Shape;99;p8"/>
          <p:cNvSpPr/>
          <p:nvPr/>
        </p:nvSpPr>
        <p:spPr>
          <a:xfrm>
            <a:off x="507955" y="4940962"/>
            <a:ext cx="6546179" cy="1303551"/>
          </a:xfrm>
          <a:prstGeom prst="rect">
            <a:avLst/>
          </a:prstGeom>
          <a:solidFill>
            <a:srgbClr val="FFFFFF"/>
          </a:solidFill>
          <a:ln cap="flat" cmpd="sng" w="118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748332" y="5184832"/>
            <a:ext cx="6065425"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666666"/>
              </a:buClr>
              <a:buSzPts val="1350"/>
              <a:buFont typeface="Tinos"/>
              <a:buNone/>
            </a:pPr>
            <a:r>
              <a:rPr b="1" i="0" lang="en-US" sz="1350" u="none" cap="none" strike="noStrike">
                <a:solidFill>
                  <a:srgbClr val="666666"/>
                </a:solidFill>
                <a:latin typeface="Tinos"/>
                <a:ea typeface="Tinos"/>
                <a:cs typeface="Tinos"/>
                <a:sym typeface="Tinos"/>
              </a:rPr>
              <a:t>Наблюдение</a:t>
            </a:r>
            <a:endParaRPr b="0" i="0" sz="1350" u="none" cap="none" strike="noStrike">
              <a:solidFill>
                <a:schemeClr val="dk1"/>
              </a:solidFill>
              <a:latin typeface="Calibri"/>
              <a:ea typeface="Calibri"/>
              <a:cs typeface="Calibri"/>
              <a:sym typeface="Calibri"/>
            </a:endParaRPr>
          </a:p>
        </p:txBody>
      </p:sp>
      <p:sp>
        <p:nvSpPr>
          <p:cNvPr id="101" name="Google Shape;101;p8"/>
          <p:cNvSpPr/>
          <p:nvPr/>
        </p:nvSpPr>
        <p:spPr>
          <a:xfrm>
            <a:off x="748332" y="5547013"/>
            <a:ext cx="6065425" cy="45712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Форма гистограмм не меняется; смещаются только положение и масштаб. </a:t>
            </a:r>
            <a:r>
              <a:rPr b="1" i="0" lang="en-US" sz="1200" u="none" cap="none" strike="noStrike">
                <a:solidFill>
                  <a:srgbClr val="111111"/>
                </a:solidFill>
                <a:latin typeface="Tinos"/>
                <a:ea typeface="Tinos"/>
                <a:cs typeface="Tinos"/>
                <a:sym typeface="Tinos"/>
              </a:rPr>
              <a:t>[Вопрос 2, Задание 4]</a:t>
            </a:r>
            <a:endParaRPr b="0" i="0" sz="1200" u="none" cap="none" strike="noStrike">
              <a:solidFill>
                <a:schemeClr val="dk1"/>
              </a:solidFill>
              <a:latin typeface="Calibri"/>
              <a:ea typeface="Calibri"/>
              <a:cs typeface="Calibri"/>
              <a:sym typeface="Calibri"/>
            </a:endParaRPr>
          </a:p>
        </p:txBody>
      </p:sp>
      <p:sp>
        <p:nvSpPr>
          <p:cNvPr id="102" name="Google Shape;102;p8"/>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pic>
        <p:nvPicPr>
          <p:cNvPr descr="preencoded.png" id="108" name="Google Shape;108;p9"/>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09" name="Google Shape;109;p9"/>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2.</a:t>
            </a:r>
            <a:r>
              <a:rPr b="0" i="0" lang="en-US" sz="1000" u="none" cap="none" strike="noStrike">
                <a:solidFill>
                  <a:srgbClr val="333333"/>
                </a:solidFill>
                <a:latin typeface="Tinos"/>
                <a:ea typeface="Tinos"/>
                <a:cs typeface="Tinos"/>
                <a:sym typeface="Tinos"/>
              </a:rPr>
              <a:t> StandardScaler, обученный на первых 150 строках; преобразованы все 299 строк. </a:t>
            </a:r>
            <a:r>
              <a:rPr b="1" i="0" lang="en-US" sz="1000" u="none" cap="none" strike="noStrike">
                <a:solidFill>
                  <a:srgbClr val="333333"/>
                </a:solidFill>
                <a:latin typeface="Tinos"/>
                <a:ea typeface="Tinos"/>
                <a:cs typeface="Tinos"/>
                <a:sym typeface="Tinos"/>
              </a:rPr>
              <a:t>[Вопрос 2, Задание 3]</a:t>
            </a:r>
            <a:endParaRPr b="0" i="0" sz="1000" u="none" cap="none" strike="noStrike">
              <a:solidFill>
                <a:schemeClr val="dk1"/>
              </a:solidFill>
              <a:latin typeface="Calibri"/>
              <a:ea typeface="Calibri"/>
              <a:cs typeface="Calibri"/>
              <a:sym typeface="Calibri"/>
            </a:endParaRPr>
          </a:p>
        </p:txBody>
      </p:sp>
      <p:sp>
        <p:nvSpPr>
          <p:cNvPr id="110" name="Google Shape;110;p9"/>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5" name="Shape 115"/>
        <p:cNvGrpSpPr/>
        <p:nvPr/>
      </p:nvGrpSpPr>
      <p:grpSpPr>
        <a:xfrm>
          <a:off x="0" y="0"/>
          <a:ext cx="0" cy="0"/>
          <a:chOff x="0" y="0"/>
          <a:chExt cx="0" cy="0"/>
        </a:xfrm>
      </p:grpSpPr>
      <p:sp>
        <p:nvSpPr>
          <p:cNvPr id="116" name="Google Shape;116;p10"/>
          <p:cNvSpPr/>
          <p:nvPr/>
        </p:nvSpPr>
        <p:spPr>
          <a:xfrm>
            <a:off x="507955" y="662597"/>
            <a:ext cx="6546179" cy="403829"/>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Масштабирование к диапазону</a:t>
            </a:r>
            <a:endParaRPr b="0" i="0" sz="3000" u="none" cap="none" strike="noStrike">
              <a:solidFill>
                <a:schemeClr val="dk1"/>
              </a:solidFill>
              <a:latin typeface="Calibri"/>
              <a:ea typeface="Calibri"/>
              <a:cs typeface="Calibri"/>
              <a:sym typeface="Calibri"/>
            </a:endParaRPr>
          </a:p>
        </p:txBody>
      </p:sp>
      <p:sp>
        <p:nvSpPr>
          <p:cNvPr id="117" name="Google Shape;117;p10"/>
          <p:cNvSpPr/>
          <p:nvPr/>
        </p:nvSpPr>
        <p:spPr>
          <a:xfrm>
            <a:off x="507955" y="1235610"/>
            <a:ext cx="6546179" cy="45712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Сравнивались четыре метода масштабирования к диапазону. Каждый из них — линейное отображение, заданное несколькими статистиками обучающих данных.</a:t>
            </a:r>
            <a:endParaRPr b="0" i="0" sz="1200" u="none" cap="none" strike="noStrike">
              <a:solidFill>
                <a:schemeClr val="dk1"/>
              </a:solidFill>
              <a:latin typeface="Calibri"/>
              <a:ea typeface="Calibri"/>
              <a:cs typeface="Calibri"/>
              <a:sym typeface="Calibri"/>
            </a:endParaRPr>
          </a:p>
        </p:txBody>
      </p:sp>
      <p:sp>
        <p:nvSpPr>
          <p:cNvPr id="118" name="Google Shape;118;p10"/>
          <p:cNvSpPr/>
          <p:nvPr/>
        </p:nvSpPr>
        <p:spPr>
          <a:xfrm>
            <a:off x="507955" y="1870523"/>
            <a:ext cx="3044528" cy="1968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MinMax</a:t>
            </a:r>
            <a:endParaRPr b="0" i="0" sz="1000" u="none" cap="none" strike="noStrike">
              <a:solidFill>
                <a:schemeClr val="dk1"/>
              </a:solidFill>
              <a:latin typeface="Calibri"/>
              <a:ea typeface="Calibri"/>
              <a:cs typeface="Calibri"/>
              <a:sym typeface="Calibri"/>
            </a:endParaRPr>
          </a:p>
        </p:txBody>
      </p:sp>
      <p:pic>
        <p:nvPicPr>
          <p:cNvPr descr="preencoded.png" id="119" name="Google Shape;119;p10"/>
          <p:cNvPicPr preferRelativeResize="0"/>
          <p:nvPr/>
        </p:nvPicPr>
        <p:blipFill rotWithShape="1">
          <a:blip r:embed="rId3">
            <a:alphaModFix/>
          </a:blip>
          <a:srcRect b="0" l="0" r="0" t="0"/>
          <a:stretch/>
        </p:blipFill>
        <p:spPr>
          <a:xfrm>
            <a:off x="507955" y="2181672"/>
            <a:ext cx="3044528" cy="438599"/>
          </a:xfrm>
          <a:prstGeom prst="rect">
            <a:avLst/>
          </a:prstGeom>
          <a:noFill/>
          <a:ln>
            <a:noFill/>
          </a:ln>
        </p:spPr>
      </p:pic>
      <p:sp>
        <p:nvSpPr>
          <p:cNvPr id="120" name="Google Shape;120;p10"/>
          <p:cNvSpPr/>
          <p:nvPr/>
        </p:nvSpPr>
        <p:spPr>
          <a:xfrm>
            <a:off x="507955" y="2734551"/>
            <a:ext cx="3044528" cy="1968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Robust</a:t>
            </a:r>
            <a:endParaRPr b="0" i="0" sz="1000" u="none" cap="none" strike="noStrike">
              <a:solidFill>
                <a:schemeClr val="dk1"/>
              </a:solidFill>
              <a:latin typeface="Calibri"/>
              <a:ea typeface="Calibri"/>
              <a:cs typeface="Calibri"/>
              <a:sym typeface="Calibri"/>
            </a:endParaRPr>
          </a:p>
        </p:txBody>
      </p:sp>
      <p:pic>
        <p:nvPicPr>
          <p:cNvPr descr="preencoded.png" id="121" name="Google Shape;121;p10"/>
          <p:cNvPicPr preferRelativeResize="0"/>
          <p:nvPr/>
        </p:nvPicPr>
        <p:blipFill rotWithShape="1">
          <a:blip r:embed="rId4">
            <a:alphaModFix/>
          </a:blip>
          <a:srcRect b="0" l="0" r="0" t="0"/>
          <a:stretch/>
        </p:blipFill>
        <p:spPr>
          <a:xfrm>
            <a:off x="507955" y="3045700"/>
            <a:ext cx="3044528" cy="467154"/>
          </a:xfrm>
          <a:prstGeom prst="rect">
            <a:avLst/>
          </a:prstGeom>
          <a:noFill/>
          <a:ln>
            <a:noFill/>
          </a:ln>
        </p:spPr>
      </p:pic>
      <p:sp>
        <p:nvSpPr>
          <p:cNvPr id="122" name="Google Shape;122;p10"/>
          <p:cNvSpPr/>
          <p:nvPr/>
        </p:nvSpPr>
        <p:spPr>
          <a:xfrm>
            <a:off x="4009605" y="1870523"/>
            <a:ext cx="3044528" cy="1968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MaxAbs</a:t>
            </a:r>
            <a:endParaRPr b="0" i="0" sz="1000" u="none" cap="none" strike="noStrike">
              <a:solidFill>
                <a:schemeClr val="dk1"/>
              </a:solidFill>
              <a:latin typeface="Calibri"/>
              <a:ea typeface="Calibri"/>
              <a:cs typeface="Calibri"/>
              <a:sym typeface="Calibri"/>
            </a:endParaRPr>
          </a:p>
        </p:txBody>
      </p:sp>
      <p:pic>
        <p:nvPicPr>
          <p:cNvPr descr="preencoded.png" id="123" name="Google Shape;123;p10"/>
          <p:cNvPicPr preferRelativeResize="0"/>
          <p:nvPr/>
        </p:nvPicPr>
        <p:blipFill rotWithShape="1">
          <a:blip r:embed="rId5">
            <a:alphaModFix/>
          </a:blip>
          <a:srcRect b="0" l="0" r="0" t="0"/>
          <a:stretch/>
        </p:blipFill>
        <p:spPr>
          <a:xfrm>
            <a:off x="4009605" y="2181672"/>
            <a:ext cx="3044528" cy="423952"/>
          </a:xfrm>
          <a:prstGeom prst="rect">
            <a:avLst/>
          </a:prstGeom>
          <a:noFill/>
          <a:ln>
            <a:noFill/>
          </a:ln>
        </p:spPr>
      </p:pic>
      <p:sp>
        <p:nvSpPr>
          <p:cNvPr id="124" name="Google Shape;124;p10"/>
          <p:cNvSpPr/>
          <p:nvPr/>
        </p:nvSpPr>
        <p:spPr>
          <a:xfrm>
            <a:off x="4009605" y="2719905"/>
            <a:ext cx="3044528" cy="1968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Собственная функция [-5, 10]</a:t>
            </a:r>
            <a:endParaRPr b="0" i="0" sz="1000" u="none" cap="none" strike="noStrike">
              <a:solidFill>
                <a:schemeClr val="dk1"/>
              </a:solidFill>
              <a:latin typeface="Calibri"/>
              <a:ea typeface="Calibri"/>
              <a:cs typeface="Calibri"/>
              <a:sym typeface="Calibri"/>
            </a:endParaRPr>
          </a:p>
        </p:txBody>
      </p:sp>
      <p:pic>
        <p:nvPicPr>
          <p:cNvPr descr="preencoded.png" id="125" name="Google Shape;125;p10"/>
          <p:cNvPicPr preferRelativeResize="0"/>
          <p:nvPr/>
        </p:nvPicPr>
        <p:blipFill rotWithShape="1">
          <a:blip r:embed="rId6">
            <a:alphaModFix/>
          </a:blip>
          <a:srcRect b="0" l="0" r="0" t="0"/>
          <a:stretch/>
        </p:blipFill>
        <p:spPr>
          <a:xfrm>
            <a:off x="4009605" y="3031053"/>
            <a:ext cx="3044528" cy="438599"/>
          </a:xfrm>
          <a:prstGeom prst="rect">
            <a:avLst/>
          </a:prstGeom>
          <a:noFill/>
          <a:ln>
            <a:noFill/>
          </a:ln>
        </p:spPr>
      </p:pic>
      <p:sp>
        <p:nvSpPr>
          <p:cNvPr id="126" name="Google Shape;126;p10"/>
          <p:cNvSpPr/>
          <p:nvPr/>
        </p:nvSpPr>
        <p:spPr>
          <a:xfrm>
            <a:off x="507955" y="3690644"/>
            <a:ext cx="6546179" cy="1980804"/>
          </a:xfrm>
          <a:prstGeom prst="rect">
            <a:avLst/>
          </a:prstGeom>
          <a:noFill/>
          <a:ln>
            <a:noFill/>
          </a:ln>
        </p:spPr>
        <p:txBody>
          <a:bodyPr anchorCtr="0" anchor="t" bIns="0" lIns="0" spcFirstLastPara="1" rIns="0" wrap="square" tIns="0">
            <a:noAutofit/>
          </a:bodyPr>
          <a:lstStyle/>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MinMax переводит данные в [0, 1]; data_min_ и data_max_ восстанавливают исходные минимум и максимум. </a:t>
            </a:r>
            <a:r>
              <a:rPr b="1" i="0" lang="en-US" sz="1200" u="none" cap="none" strike="noStrike">
                <a:solidFill>
                  <a:srgbClr val="111111"/>
                </a:solidFill>
                <a:latin typeface="Tinos"/>
                <a:ea typeface="Tinos"/>
                <a:cs typeface="Tinos"/>
                <a:sym typeface="Tinos"/>
              </a:rPr>
              <a:t>[Вопрос 3, Задание 3]</a:t>
            </a:r>
            <a:endParaRPr b="0" i="0" sz="1200" u="none" cap="none" strike="noStrike">
              <a:solidFill>
                <a:schemeClr val="dk1"/>
              </a:solidFill>
              <a:latin typeface="Calibri"/>
              <a:ea typeface="Calibri"/>
              <a:cs typeface="Calibri"/>
              <a:sym typeface="Calibri"/>
            </a:endParaRPr>
          </a:p>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MaxAbs переводит данные в (0, 1], так как все значения положительны; max|x| равен исходным максимумам. </a:t>
            </a:r>
            <a:r>
              <a:rPr b="1" i="0" lang="en-US" sz="1200" u="none" cap="none" strike="noStrike">
                <a:solidFill>
                  <a:srgbClr val="111111"/>
                </a:solidFill>
                <a:latin typeface="Tinos"/>
                <a:ea typeface="Tinos"/>
                <a:cs typeface="Tinos"/>
                <a:sym typeface="Tinos"/>
              </a:rPr>
              <a:t>[Вопрос 3, Задание 4]</a:t>
            </a:r>
            <a:endParaRPr b="0" i="0" sz="1200" u="none" cap="none" strike="noStrike">
              <a:solidFill>
                <a:schemeClr val="dk1"/>
              </a:solidFill>
              <a:latin typeface="Calibri"/>
              <a:ea typeface="Calibri"/>
              <a:cs typeface="Calibri"/>
              <a:sym typeface="Calibri"/>
            </a:endParaRPr>
          </a:p>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Robust центрирует по медианам 60, 250, 38, 262000, 1.1, 137 с IQR 19, 465.5, 15, 91000, 0.5, 6; диапазон не фиксирован, выбросы остаются далеко. </a:t>
            </a:r>
            <a:r>
              <a:rPr b="1" i="0" lang="en-US" sz="1200" u="none" cap="none" strike="noStrike">
                <a:solidFill>
                  <a:srgbClr val="111111"/>
                </a:solidFill>
                <a:latin typeface="Tinos"/>
                <a:ea typeface="Tinos"/>
                <a:cs typeface="Tinos"/>
                <a:sym typeface="Tinos"/>
              </a:rPr>
              <a:t>[Вопрос 3, Задание 4]</a:t>
            </a:r>
            <a:endParaRPr b="0" i="0" sz="1200" u="none" cap="none" strike="noStrike">
              <a:solidFill>
                <a:schemeClr val="dk1"/>
              </a:solidFill>
              <a:latin typeface="Calibri"/>
              <a:ea typeface="Calibri"/>
              <a:cs typeface="Calibri"/>
              <a:sym typeface="Calibri"/>
            </a:endParaRPr>
          </a:p>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Собственная функция даёт точный минимум −5 и максимум 10 по каждому признаку и защищена от нулевого размаха. </a:t>
            </a:r>
            <a:r>
              <a:rPr b="1" i="0" lang="en-US" sz="1200" u="none" cap="none" strike="noStrike">
                <a:solidFill>
                  <a:srgbClr val="111111"/>
                </a:solidFill>
                <a:latin typeface="Tinos"/>
                <a:ea typeface="Tinos"/>
                <a:cs typeface="Tinos"/>
                <a:sym typeface="Tinos"/>
              </a:rPr>
              <a:t>[Вопрос 3, Задание 5]</a:t>
            </a:r>
            <a:endParaRPr b="0" i="0" sz="1200" u="none" cap="none" strike="noStrike">
              <a:solidFill>
                <a:schemeClr val="dk1"/>
              </a:solidFill>
              <a:latin typeface="Calibri"/>
              <a:ea typeface="Calibri"/>
              <a:cs typeface="Calibri"/>
              <a:sym typeface="Calibri"/>
            </a:endParaRPr>
          </a:p>
        </p:txBody>
      </p:sp>
      <p:sp>
        <p:nvSpPr>
          <p:cNvPr id="127" name="Google Shape;127;p10"/>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2" name="Shape 132"/>
        <p:cNvGrpSpPr/>
        <p:nvPr/>
      </p:nvGrpSpPr>
      <p:grpSpPr>
        <a:xfrm>
          <a:off x="0" y="0"/>
          <a:ext cx="0" cy="0"/>
          <a:chOff x="0" y="0"/>
          <a:chExt cx="0" cy="0"/>
        </a:xfrm>
      </p:grpSpPr>
      <p:pic>
        <p:nvPicPr>
          <p:cNvPr descr="preencoded.png" id="133" name="Google Shape;133;p11"/>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34" name="Google Shape;134;p11"/>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3.</a:t>
            </a:r>
            <a:r>
              <a:rPr b="0" i="0" lang="en-US" sz="1000" u="none" cap="none" strike="noStrike">
                <a:solidFill>
                  <a:srgbClr val="333333"/>
                </a:solidFill>
                <a:latin typeface="Tinos"/>
                <a:ea typeface="Tinos"/>
                <a:cs typeface="Tinos"/>
                <a:sym typeface="Tinos"/>
              </a:rPr>
              <a:t> MinMaxScaler. </a:t>
            </a:r>
            <a:r>
              <a:rPr b="1" i="0" lang="en-US" sz="1000" u="none" cap="none" strike="noStrike">
                <a:solidFill>
                  <a:srgbClr val="333333"/>
                </a:solidFill>
                <a:latin typeface="Tinos"/>
                <a:ea typeface="Tinos"/>
                <a:cs typeface="Tinos"/>
                <a:sym typeface="Tinos"/>
              </a:rPr>
              <a:t>[Вопрос 3, Задание 2]</a:t>
            </a:r>
            <a:endParaRPr b="0" i="0" sz="1000" u="none" cap="none" strike="noStrike">
              <a:solidFill>
                <a:schemeClr val="dk1"/>
              </a:solidFill>
              <a:latin typeface="Calibri"/>
              <a:ea typeface="Calibri"/>
              <a:cs typeface="Calibri"/>
              <a:sym typeface="Calibri"/>
            </a:endParaRPr>
          </a:p>
        </p:txBody>
      </p:sp>
      <p:sp>
        <p:nvSpPr>
          <p:cNvPr id="135" name="Google Shape;135;p11"/>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pic>
        <p:nvPicPr>
          <p:cNvPr descr="preencoded.png" id="141" name="Google Shape;141;p12"/>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42" name="Google Shape;142;p12"/>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4.</a:t>
            </a:r>
            <a:r>
              <a:rPr b="0" i="0" lang="en-US" sz="1000" u="none" cap="none" strike="noStrike">
                <a:solidFill>
                  <a:srgbClr val="333333"/>
                </a:solidFill>
                <a:latin typeface="Tinos"/>
                <a:ea typeface="Tinos"/>
                <a:cs typeface="Tinos"/>
                <a:sym typeface="Tinos"/>
              </a:rPr>
              <a:t> MaxAbsScaler. </a:t>
            </a:r>
            <a:r>
              <a:rPr b="1" i="0" lang="en-US" sz="1000" u="none" cap="none" strike="noStrike">
                <a:solidFill>
                  <a:srgbClr val="333333"/>
                </a:solidFill>
                <a:latin typeface="Tinos"/>
                <a:ea typeface="Tinos"/>
                <a:cs typeface="Tinos"/>
                <a:sym typeface="Tinos"/>
              </a:rPr>
              <a:t>[Вопрос 3, Задание 4]</a:t>
            </a:r>
            <a:endParaRPr b="0" i="0" sz="1000" u="none" cap="none" strike="noStrike">
              <a:solidFill>
                <a:schemeClr val="dk1"/>
              </a:solidFill>
              <a:latin typeface="Calibri"/>
              <a:ea typeface="Calibri"/>
              <a:cs typeface="Calibri"/>
              <a:sym typeface="Calibri"/>
            </a:endParaRPr>
          </a:p>
        </p:txBody>
      </p:sp>
      <p:sp>
        <p:nvSpPr>
          <p:cNvPr id="143" name="Google Shape;143;p12"/>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8" name="Shape 148"/>
        <p:cNvGrpSpPr/>
        <p:nvPr/>
      </p:nvGrpSpPr>
      <p:grpSpPr>
        <a:xfrm>
          <a:off x="0" y="0"/>
          <a:ext cx="0" cy="0"/>
          <a:chOff x="0" y="0"/>
          <a:chExt cx="0" cy="0"/>
        </a:xfrm>
      </p:grpSpPr>
      <p:pic>
        <p:nvPicPr>
          <p:cNvPr descr="preencoded.png" id="149" name="Google Shape;149;p13"/>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50" name="Google Shape;150;p13"/>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5.</a:t>
            </a:r>
            <a:r>
              <a:rPr b="0" i="0" lang="en-US" sz="1000" u="none" cap="none" strike="noStrike">
                <a:solidFill>
                  <a:srgbClr val="333333"/>
                </a:solidFill>
                <a:latin typeface="Tinos"/>
                <a:ea typeface="Tinos"/>
                <a:cs typeface="Tinos"/>
                <a:sym typeface="Tinos"/>
              </a:rPr>
              <a:t> RobustScaler. </a:t>
            </a:r>
            <a:r>
              <a:rPr b="1" i="0" lang="en-US" sz="1000" u="none" cap="none" strike="noStrike">
                <a:solidFill>
                  <a:srgbClr val="333333"/>
                </a:solidFill>
                <a:latin typeface="Tinos"/>
                <a:ea typeface="Tinos"/>
                <a:cs typeface="Tinos"/>
                <a:sym typeface="Tinos"/>
              </a:rPr>
              <a:t>[Вопрос 3, Задание 4]</a:t>
            </a:r>
            <a:endParaRPr b="0" i="0" sz="1000" u="none" cap="none" strike="noStrike">
              <a:solidFill>
                <a:schemeClr val="dk1"/>
              </a:solidFill>
              <a:latin typeface="Calibri"/>
              <a:ea typeface="Calibri"/>
              <a:cs typeface="Calibri"/>
              <a:sym typeface="Calibri"/>
            </a:endParaRPr>
          </a:p>
        </p:txBody>
      </p:sp>
      <p:sp>
        <p:nvSpPr>
          <p:cNvPr id="151" name="Google Shape;151;p13"/>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11</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6" name="Shape 156"/>
        <p:cNvGrpSpPr/>
        <p:nvPr/>
      </p:nvGrpSpPr>
      <p:grpSpPr>
        <a:xfrm>
          <a:off x="0" y="0"/>
          <a:ext cx="0" cy="0"/>
          <a:chOff x="0" y="0"/>
          <a:chExt cx="0" cy="0"/>
        </a:xfrm>
      </p:grpSpPr>
      <p:pic>
        <p:nvPicPr>
          <p:cNvPr descr="preencoded.png" id="157" name="Google Shape;157;p14"/>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58" name="Google Shape;158;p14"/>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7.</a:t>
            </a:r>
            <a:r>
              <a:rPr b="0" i="0" lang="en-US" sz="1000" u="none" cap="none" strike="noStrike">
                <a:solidFill>
                  <a:srgbClr val="333333"/>
                </a:solidFill>
                <a:latin typeface="Tinos"/>
                <a:ea typeface="Tinos"/>
                <a:cs typeface="Tinos"/>
                <a:sym typeface="Tinos"/>
              </a:rPr>
              <a:t> Масштабирование к [-5, 10]. </a:t>
            </a:r>
            <a:r>
              <a:rPr b="1" i="0" lang="en-US" sz="1000" u="none" cap="none" strike="noStrike">
                <a:solidFill>
                  <a:srgbClr val="333333"/>
                </a:solidFill>
                <a:latin typeface="Tinos"/>
                <a:ea typeface="Tinos"/>
                <a:cs typeface="Tinos"/>
                <a:sym typeface="Tinos"/>
              </a:rPr>
              <a:t>[Вопрос 3, Задание 5]</a:t>
            </a:r>
            <a:endParaRPr b="0" i="0" sz="1000" u="none" cap="none" strike="noStrike">
              <a:solidFill>
                <a:schemeClr val="dk1"/>
              </a:solidFill>
              <a:latin typeface="Calibri"/>
              <a:ea typeface="Calibri"/>
              <a:cs typeface="Calibri"/>
              <a:sym typeface="Calibri"/>
            </a:endParaRPr>
          </a:p>
        </p:txBody>
      </p:sp>
      <p:sp>
        <p:nvSpPr>
          <p:cNvPr id="159" name="Google Shape;159;p14"/>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4" name="Shape 164"/>
        <p:cNvGrpSpPr/>
        <p:nvPr/>
      </p:nvGrpSpPr>
      <p:grpSpPr>
        <a:xfrm>
          <a:off x="0" y="0"/>
          <a:ext cx="0" cy="0"/>
          <a:chOff x="0" y="0"/>
          <a:chExt cx="0" cy="0"/>
        </a:xfrm>
      </p:grpSpPr>
      <p:sp>
        <p:nvSpPr>
          <p:cNvPr id="165" name="Google Shape;165;p15"/>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000000"/>
              </a:buClr>
              <a:buSzPts val="15000"/>
              <a:buFont typeface="Tinos"/>
              <a:buNone/>
            </a:pPr>
            <a:r>
              <a:rPr b="1" i="0" lang="en-US" sz="15000" u="none" cap="none" strike="noStrike">
                <a:solidFill>
                  <a:srgbClr val="000000"/>
                </a:solidFill>
                <a:latin typeface="Tinos"/>
                <a:ea typeface="Tinos"/>
                <a:cs typeface="Tinos"/>
                <a:sym typeface="Tinos"/>
              </a:rPr>
              <a:t>Н</a:t>
            </a:r>
            <a:endParaRPr b="0" i="0" sz="15000" u="none" cap="none" strike="noStrike">
              <a:solidFill>
                <a:schemeClr val="dk1"/>
              </a:solidFill>
              <a:latin typeface="Calibri"/>
              <a:ea typeface="Calibri"/>
              <a:cs typeface="Calibri"/>
              <a:sym typeface="Calibri"/>
            </a:endParaRPr>
          </a:p>
        </p:txBody>
      </p:sp>
      <p:sp>
        <p:nvSpPr>
          <p:cNvPr id="166" name="Google Shape;166;p15"/>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000000"/>
              </a:buClr>
              <a:buSzPts val="15000"/>
              <a:buFont typeface="Tinos"/>
              <a:buNone/>
            </a:pPr>
            <a:r>
              <a:rPr b="1" i="0" lang="en-US" sz="15000" u="none" cap="none" strike="noStrike">
                <a:solidFill>
                  <a:srgbClr val="000000"/>
                </a:solidFill>
                <a:latin typeface="Tinos"/>
                <a:ea typeface="Tinos"/>
                <a:cs typeface="Tinos"/>
                <a:sym typeface="Tinos"/>
              </a:rPr>
              <a:t>Н</a:t>
            </a:r>
            <a:endParaRPr b="0" i="0" sz="15000" u="none" cap="none" strike="noStrike">
              <a:solidFill>
                <a:schemeClr val="dk1"/>
              </a:solidFill>
              <a:latin typeface="Calibri"/>
              <a:ea typeface="Calibri"/>
              <a:cs typeface="Calibri"/>
              <a:sym typeface="Calibri"/>
            </a:endParaRPr>
          </a:p>
        </p:txBody>
      </p:sp>
      <p:sp>
        <p:nvSpPr>
          <p:cNvPr id="167" name="Google Shape;167;p15"/>
          <p:cNvSpPr/>
          <p:nvPr/>
        </p:nvSpPr>
        <p:spPr>
          <a:xfrm>
            <a:off x="3151793" y="639766"/>
            <a:ext cx="3902340" cy="807657"/>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Нелинейные преобразования</a:t>
            </a:r>
            <a:endParaRPr b="0" i="0" sz="3000" u="none" cap="none" strike="noStrike">
              <a:solidFill>
                <a:schemeClr val="dk1"/>
              </a:solidFill>
              <a:latin typeface="Calibri"/>
              <a:ea typeface="Calibri"/>
              <a:cs typeface="Calibri"/>
              <a:sym typeface="Calibri"/>
            </a:endParaRPr>
          </a:p>
        </p:txBody>
      </p:sp>
      <p:sp>
        <p:nvSpPr>
          <p:cNvPr id="168" name="Google Shape;168;p15"/>
          <p:cNvSpPr/>
          <p:nvPr/>
        </p:nvSpPr>
        <p:spPr>
          <a:xfrm>
            <a:off x="507955" y="2054714"/>
            <a:ext cx="3044528" cy="1968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Квантильное (uniform, normal)</a:t>
            </a:r>
            <a:endParaRPr b="0" i="0" sz="1000" u="none" cap="none" strike="noStrike">
              <a:solidFill>
                <a:schemeClr val="dk1"/>
              </a:solidFill>
              <a:latin typeface="Calibri"/>
              <a:ea typeface="Calibri"/>
              <a:cs typeface="Calibri"/>
              <a:sym typeface="Calibri"/>
            </a:endParaRPr>
          </a:p>
        </p:txBody>
      </p:sp>
      <p:pic>
        <p:nvPicPr>
          <p:cNvPr descr="preencoded.png" id="169" name="Google Shape;169;p15"/>
          <p:cNvPicPr preferRelativeResize="0"/>
          <p:nvPr/>
        </p:nvPicPr>
        <p:blipFill rotWithShape="1">
          <a:blip r:embed="rId3">
            <a:alphaModFix/>
          </a:blip>
          <a:srcRect b="0" l="0" r="0" t="0"/>
          <a:stretch/>
        </p:blipFill>
        <p:spPr>
          <a:xfrm>
            <a:off x="507955" y="2365862"/>
            <a:ext cx="3044528" cy="268132"/>
          </a:xfrm>
          <a:prstGeom prst="rect">
            <a:avLst/>
          </a:prstGeom>
          <a:noFill/>
          <a:ln>
            <a:noFill/>
          </a:ln>
        </p:spPr>
      </p:pic>
      <p:sp>
        <p:nvSpPr>
          <p:cNvPr id="170" name="Google Shape;170;p15"/>
          <p:cNvSpPr/>
          <p:nvPr/>
        </p:nvSpPr>
        <p:spPr>
          <a:xfrm>
            <a:off x="4009605" y="2054714"/>
            <a:ext cx="3044528" cy="1968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111111"/>
              </a:buClr>
              <a:buSzPts val="1000"/>
              <a:buFont typeface="Tinos"/>
              <a:buNone/>
            </a:pPr>
            <a:r>
              <a:rPr b="0" i="0" lang="en-US" sz="1000" u="none" cap="none" strike="noStrike">
                <a:solidFill>
                  <a:srgbClr val="111111"/>
                </a:solidFill>
                <a:latin typeface="Tinos"/>
                <a:ea typeface="Tinos"/>
                <a:cs typeface="Tinos"/>
                <a:sym typeface="Tinos"/>
              </a:rPr>
              <a:t>Yeo–Johnson, x ≥ 0</a:t>
            </a:r>
            <a:endParaRPr b="0" i="0" sz="1000" u="none" cap="none" strike="noStrike">
              <a:solidFill>
                <a:schemeClr val="dk1"/>
              </a:solidFill>
              <a:latin typeface="Calibri"/>
              <a:ea typeface="Calibri"/>
              <a:cs typeface="Calibri"/>
              <a:sym typeface="Calibri"/>
            </a:endParaRPr>
          </a:p>
        </p:txBody>
      </p:sp>
      <p:pic>
        <p:nvPicPr>
          <p:cNvPr descr="preencoded.png" id="171" name="Google Shape;171;p15"/>
          <p:cNvPicPr preferRelativeResize="0"/>
          <p:nvPr/>
        </p:nvPicPr>
        <p:blipFill rotWithShape="1">
          <a:blip r:embed="rId4">
            <a:alphaModFix/>
          </a:blip>
          <a:srcRect b="0" l="0" r="0" t="0"/>
          <a:stretch/>
        </p:blipFill>
        <p:spPr>
          <a:xfrm>
            <a:off x="4009605" y="2365862"/>
            <a:ext cx="3044528" cy="770056"/>
          </a:xfrm>
          <a:prstGeom prst="rect">
            <a:avLst/>
          </a:prstGeom>
          <a:noFill/>
          <a:ln>
            <a:noFill/>
          </a:ln>
        </p:spPr>
      </p:pic>
      <p:sp>
        <p:nvSpPr>
          <p:cNvPr id="172" name="Google Shape;172;p15"/>
          <p:cNvSpPr/>
          <p:nvPr/>
        </p:nvSpPr>
        <p:spPr>
          <a:xfrm>
            <a:off x="507955" y="3313709"/>
            <a:ext cx="6546179" cy="1244349"/>
          </a:xfrm>
          <a:prstGeom prst="rect">
            <a:avLst/>
          </a:prstGeom>
          <a:noFill/>
          <a:ln>
            <a:noFill/>
          </a:ln>
        </p:spPr>
        <p:txBody>
          <a:bodyPr anchorCtr="0" anchor="t" bIns="0" lIns="0" spcFirstLastPara="1" rIns="0" wrap="square" tIns="0">
            <a:noAutofit/>
          </a:bodyPr>
          <a:lstStyle/>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Равномерный выход выравнивает гистограммы на [0, 1]; нормальный выход даёт колоколообразные гистограммы. </a:t>
            </a:r>
            <a:r>
              <a:rPr b="1" i="0" lang="en-US" sz="1200" u="none" cap="none" strike="noStrike">
                <a:solidFill>
                  <a:srgbClr val="111111"/>
                </a:solidFill>
                <a:latin typeface="Tinos"/>
                <a:ea typeface="Tinos"/>
                <a:cs typeface="Tinos"/>
                <a:sym typeface="Tinos"/>
              </a:rPr>
              <a:t>[Вопрос 4, Задания 2 и 5]</a:t>
            </a:r>
            <a:endParaRPr b="0" i="0" sz="1200" u="none" cap="none" strike="noStrike">
              <a:solidFill>
                <a:schemeClr val="dk1"/>
              </a:solidFill>
              <a:latin typeface="Calibri"/>
              <a:ea typeface="Calibri"/>
              <a:cs typeface="Calibri"/>
              <a:sym typeface="Calibri"/>
            </a:endParaRPr>
          </a:p>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n_quantiles задаёт число опорных точек эмпирической функции распределения. Я проверил 10, 50, 100 и 299; значения больше объёма выборки ограничиваются 299. </a:t>
            </a:r>
            <a:r>
              <a:rPr b="1" i="0" lang="en-US" sz="1200" u="none" cap="none" strike="noStrike">
                <a:solidFill>
                  <a:srgbClr val="111111"/>
                </a:solidFill>
                <a:latin typeface="Tinos"/>
                <a:ea typeface="Tinos"/>
                <a:cs typeface="Tinos"/>
                <a:sym typeface="Tinos"/>
              </a:rPr>
              <a:t>[Вопрос 4, Задание 3]</a:t>
            </a:r>
            <a:endParaRPr b="0" i="0" sz="1200" u="none" cap="none" strike="noStrike">
              <a:solidFill>
                <a:schemeClr val="dk1"/>
              </a:solidFill>
              <a:latin typeface="Calibri"/>
              <a:ea typeface="Calibri"/>
              <a:cs typeface="Calibri"/>
              <a:sym typeface="Calibri"/>
            </a:endParaRPr>
          </a:p>
          <a:p>
            <a:pPr indent="-243840" lvl="0" marL="243840" marR="0" rtl="0" algn="l">
              <a:lnSpc>
                <a:spcPct val="125000"/>
              </a:lnSpc>
              <a:spcBef>
                <a:spcPts val="0"/>
              </a:spcBef>
              <a:spcAft>
                <a:spcPts val="0"/>
              </a:spcAft>
              <a:buClr>
                <a:srgbClr val="111111"/>
              </a:buClr>
              <a:buSzPts val="1200"/>
              <a:buFont typeface="Tinos"/>
              <a:buChar char="•"/>
            </a:pPr>
            <a:r>
              <a:rPr b="0" i="0" lang="en-US" sz="1200" u="none" cap="none" strike="noStrike">
                <a:solidFill>
                  <a:srgbClr val="111111"/>
                </a:solidFill>
                <a:latin typeface="Tinos"/>
                <a:ea typeface="Tinos"/>
                <a:cs typeface="Tinos"/>
                <a:sym typeface="Tinos"/>
              </a:rPr>
              <a:t>Оценённые λ: 0.021, −0.163, 0.285, 0.491, −2.325, 7.01. </a:t>
            </a:r>
            <a:r>
              <a:rPr b="1" i="0" lang="en-US" sz="1200" u="none" cap="none" strike="noStrike">
                <a:solidFill>
                  <a:srgbClr val="111111"/>
                </a:solidFill>
                <a:latin typeface="Tinos"/>
                <a:ea typeface="Tinos"/>
                <a:cs typeface="Tinos"/>
                <a:sym typeface="Tinos"/>
              </a:rPr>
              <a:t>[Вопрос 4, Задание 6]</a:t>
            </a:r>
            <a:endParaRPr b="0" i="0" sz="1200" u="none" cap="none" strike="noStrike">
              <a:solidFill>
                <a:schemeClr val="dk1"/>
              </a:solidFill>
              <a:latin typeface="Calibri"/>
              <a:ea typeface="Calibri"/>
              <a:cs typeface="Calibri"/>
              <a:sym typeface="Calibri"/>
            </a:endParaRPr>
          </a:p>
        </p:txBody>
      </p:sp>
      <p:sp>
        <p:nvSpPr>
          <p:cNvPr id="173" name="Google Shape;173;p15"/>
          <p:cNvSpPr/>
          <p:nvPr/>
        </p:nvSpPr>
        <p:spPr>
          <a:xfrm>
            <a:off x="507955" y="4735848"/>
            <a:ext cx="6546179" cy="1532112"/>
          </a:xfrm>
          <a:prstGeom prst="rect">
            <a:avLst/>
          </a:prstGeom>
          <a:solidFill>
            <a:srgbClr val="EBEBEB"/>
          </a:solidFill>
          <a:ln cap="flat" cmpd="sng" w="118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748332" y="4979718"/>
            <a:ext cx="6065425" cy="222838"/>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350"/>
              <a:buFont typeface="Tinos"/>
              <a:buNone/>
            </a:pPr>
            <a:r>
              <a:rPr b="1" i="0" lang="en-US" sz="1350" u="none" cap="none" strike="noStrike">
                <a:solidFill>
                  <a:srgbClr val="000000"/>
                </a:solidFill>
                <a:latin typeface="Tinos"/>
                <a:ea typeface="Tinos"/>
                <a:cs typeface="Tinos"/>
                <a:sym typeface="Tinos"/>
              </a:rPr>
              <a:t>Ограничение</a:t>
            </a:r>
            <a:endParaRPr b="0" i="0" sz="1350" u="none" cap="none" strike="noStrike">
              <a:solidFill>
                <a:schemeClr val="dk1"/>
              </a:solidFill>
              <a:latin typeface="Calibri"/>
              <a:ea typeface="Calibri"/>
              <a:cs typeface="Calibri"/>
              <a:sym typeface="Calibri"/>
            </a:endParaRPr>
          </a:p>
        </p:txBody>
      </p:sp>
      <p:sp>
        <p:nvSpPr>
          <p:cNvPr id="175" name="Google Shape;175;p15"/>
          <p:cNvSpPr/>
          <p:nvPr/>
        </p:nvSpPr>
        <p:spPr>
          <a:xfrm>
            <a:off x="748332" y="5341899"/>
            <a:ext cx="6065425" cy="68568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Повторяющиеся значения, например многочисленные одинаковые записи platelets и creatinine_phosphokinase, образуют пики, которые не может разделить ни одно монотонное преобразование.</a:t>
            </a:r>
            <a:endParaRPr b="0" i="0" sz="1200" u="none" cap="none" strike="noStrike">
              <a:solidFill>
                <a:schemeClr val="dk1"/>
              </a:solidFill>
              <a:latin typeface="Calibri"/>
              <a:ea typeface="Calibri"/>
              <a:cs typeface="Calibri"/>
              <a:sym typeface="Calibri"/>
            </a:endParaRPr>
          </a:p>
        </p:txBody>
      </p:sp>
      <p:sp>
        <p:nvSpPr>
          <p:cNvPr id="176" name="Google Shape;176;p15"/>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pic>
        <p:nvPicPr>
          <p:cNvPr descr="preencoded.png" id="182" name="Google Shape;182;p16"/>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83" name="Google Shape;183;p16"/>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6.</a:t>
            </a:r>
            <a:r>
              <a:rPr b="0" i="0" lang="en-US" sz="1000" u="none" cap="none" strike="noStrike">
                <a:solidFill>
                  <a:srgbClr val="333333"/>
                </a:solidFill>
                <a:latin typeface="Tinos"/>
                <a:ea typeface="Tinos"/>
                <a:cs typeface="Tinos"/>
                <a:sym typeface="Tinos"/>
              </a:rPr>
              <a:t> QuantileTransformer, равномерный выход. </a:t>
            </a:r>
            <a:r>
              <a:rPr b="1" i="0" lang="en-US" sz="1000" u="none" cap="none" strike="noStrike">
                <a:solidFill>
                  <a:srgbClr val="333333"/>
                </a:solidFill>
                <a:latin typeface="Tinos"/>
                <a:ea typeface="Tinos"/>
                <a:cs typeface="Tinos"/>
                <a:sym typeface="Tinos"/>
              </a:rPr>
              <a:t>[Вопрос 4, Задание 2]</a:t>
            </a:r>
            <a:endParaRPr b="0" i="0" sz="1000" u="none" cap="none" strike="noStrike">
              <a:solidFill>
                <a:schemeClr val="dk1"/>
              </a:solidFill>
              <a:latin typeface="Calibri"/>
              <a:ea typeface="Calibri"/>
              <a:cs typeface="Calibri"/>
              <a:sym typeface="Calibri"/>
            </a:endParaRPr>
          </a:p>
        </p:txBody>
      </p:sp>
      <p:sp>
        <p:nvSpPr>
          <p:cNvPr id="184" name="Google Shape;184;p16"/>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pic>
        <p:nvPicPr>
          <p:cNvPr descr="preencoded.png" id="190" name="Google Shape;190;p17"/>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91" name="Google Shape;191;p17"/>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8.</a:t>
            </a:r>
            <a:r>
              <a:rPr b="0" i="0" lang="en-US" sz="1000" u="none" cap="none" strike="noStrike">
                <a:solidFill>
                  <a:srgbClr val="333333"/>
                </a:solidFill>
                <a:latin typeface="Tinos"/>
                <a:ea typeface="Tinos"/>
                <a:cs typeface="Tinos"/>
                <a:sym typeface="Tinos"/>
              </a:rPr>
              <a:t> QuantileTransformer, нормальный выход. </a:t>
            </a:r>
            <a:r>
              <a:rPr b="1" i="0" lang="en-US" sz="1000" u="none" cap="none" strike="noStrike">
                <a:solidFill>
                  <a:srgbClr val="333333"/>
                </a:solidFill>
                <a:latin typeface="Tinos"/>
                <a:ea typeface="Tinos"/>
                <a:cs typeface="Tinos"/>
                <a:sym typeface="Tinos"/>
              </a:rPr>
              <a:t>[Вопрос 4, Задание 5]</a:t>
            </a:r>
            <a:endParaRPr b="0" i="0" sz="1000" u="none" cap="none" strike="noStrike">
              <a:solidFill>
                <a:schemeClr val="dk1"/>
              </a:solidFill>
              <a:latin typeface="Calibri"/>
              <a:ea typeface="Calibri"/>
              <a:cs typeface="Calibri"/>
              <a:sym typeface="Calibri"/>
            </a:endParaRPr>
          </a:p>
        </p:txBody>
      </p:sp>
      <p:sp>
        <p:nvSpPr>
          <p:cNvPr id="192" name="Google Shape;192;p17"/>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pic>
        <p:nvPicPr>
          <p:cNvPr descr="preencoded.png" id="198" name="Google Shape;198;p18"/>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199" name="Google Shape;199;p18"/>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9.</a:t>
            </a:r>
            <a:r>
              <a:rPr b="0" i="0" lang="en-US" sz="1000" u="none" cap="none" strike="noStrike">
                <a:solidFill>
                  <a:srgbClr val="333333"/>
                </a:solidFill>
                <a:latin typeface="Tinos"/>
                <a:ea typeface="Tinos"/>
                <a:cs typeface="Tinos"/>
                <a:sym typeface="Tinos"/>
              </a:rPr>
              <a:t> PowerTransformer (Yeo–Johnson, стандартизованный). </a:t>
            </a:r>
            <a:r>
              <a:rPr b="1" i="0" lang="en-US" sz="1000" u="none" cap="none" strike="noStrike">
                <a:solidFill>
                  <a:srgbClr val="333333"/>
                </a:solidFill>
                <a:latin typeface="Tinos"/>
                <a:ea typeface="Tinos"/>
                <a:cs typeface="Tinos"/>
                <a:sym typeface="Tinos"/>
              </a:rPr>
              <a:t>[Вопрос 4, Задание 6]</a:t>
            </a:r>
            <a:endParaRPr b="0" i="0" sz="1000" u="none" cap="none" strike="noStrike">
              <a:solidFill>
                <a:schemeClr val="dk1"/>
              </a:solidFill>
              <a:latin typeface="Calibri"/>
              <a:ea typeface="Calibri"/>
              <a:cs typeface="Calibri"/>
              <a:sym typeface="Calibri"/>
            </a:endParaRPr>
          </a:p>
        </p:txBody>
      </p:sp>
      <p:sp>
        <p:nvSpPr>
          <p:cNvPr id="200" name="Google Shape;200;p18"/>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9"/>
          <p:cNvSpPr/>
          <p:nvPr/>
        </p:nvSpPr>
        <p:spPr>
          <a:xfrm>
            <a:off x="507955" y="662597"/>
            <a:ext cx="6546179" cy="403829"/>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Дискретизация признаков</a:t>
            </a:r>
            <a:endParaRPr b="0" i="0" sz="3000" u="none" cap="none" strike="noStrike">
              <a:solidFill>
                <a:schemeClr val="dk1"/>
              </a:solidFill>
              <a:latin typeface="Calibri"/>
              <a:ea typeface="Calibri"/>
              <a:cs typeface="Calibri"/>
              <a:sym typeface="Calibri"/>
            </a:endParaRPr>
          </a:p>
        </p:txBody>
      </p:sp>
      <p:sp>
        <p:nvSpPr>
          <p:cNvPr id="207" name="Google Shape;207;p19"/>
          <p:cNvSpPr/>
          <p:nvPr/>
        </p:nvSpPr>
        <p:spPr>
          <a:xfrm>
            <a:off x="507955" y="1235610"/>
            <a:ext cx="6546179" cy="68568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KBinsDiscretizer применялся с отдельным числом интервалов для каждого признака, подобранным под его разброс. В таблице 2 приведены полученные квантильные границы интервалов. </a:t>
            </a:r>
            <a:r>
              <a:rPr b="1" i="0" lang="en-US" sz="1200" u="none" cap="none" strike="noStrike">
                <a:solidFill>
                  <a:srgbClr val="111111"/>
                </a:solidFill>
                <a:latin typeface="Tinos"/>
                <a:ea typeface="Tinos"/>
                <a:cs typeface="Tinos"/>
                <a:sym typeface="Tinos"/>
              </a:rPr>
              <a:t>[Вопрос 5, Задание 1]</a:t>
            </a:r>
            <a:endParaRPr b="0" i="0" sz="1200" u="none" cap="none" strike="noStrike">
              <a:solidFill>
                <a:schemeClr val="dk1"/>
              </a:solidFill>
              <a:latin typeface="Calibri"/>
              <a:ea typeface="Calibri"/>
              <a:cs typeface="Calibri"/>
              <a:sym typeface="Calibri"/>
            </a:endParaRPr>
          </a:p>
        </p:txBody>
      </p:sp>
      <p:sp>
        <p:nvSpPr>
          <p:cNvPr id="208" name="Google Shape;208;p19"/>
          <p:cNvSpPr/>
          <p:nvPr/>
        </p:nvSpPr>
        <p:spPr>
          <a:xfrm>
            <a:off x="507955" y="2099084"/>
            <a:ext cx="6546179" cy="3025146"/>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209" name="Google Shape;209;p19"/>
          <p:cNvGraphicFramePr/>
          <p:nvPr/>
        </p:nvGraphicFramePr>
        <p:xfrm>
          <a:off x="736516" y="2327646"/>
          <a:ext cx="3000000" cy="3000000"/>
        </p:xfrm>
        <a:graphic>
          <a:graphicData uri="http://schemas.openxmlformats.org/drawingml/2006/table">
            <a:tbl>
              <a:tblPr>
                <a:noFill/>
                <a:tableStyleId>{440C591E-2DB2-4C24-8F66-90C028B987D7}</a:tableStyleId>
              </a:tblPr>
              <a:tblGrid>
                <a:gridCol w="1932500"/>
                <a:gridCol w="842500"/>
                <a:gridCol w="3314075"/>
              </a:tblGrid>
              <a:tr h="299950">
                <a:tc>
                  <a:txBody>
                    <a:bodyPr/>
                    <a:lstStyle/>
                    <a:p>
                      <a:pPr indent="0" lvl="0" marL="0" marR="0" rtl="0" algn="l">
                        <a:spcBef>
                          <a:spcPts val="0"/>
                        </a:spcBef>
                        <a:spcAft>
                          <a:spcPts val="0"/>
                        </a:spcAft>
                        <a:buClr>
                          <a:srgbClr val="FFFFFF"/>
                        </a:buClr>
                        <a:buSzPts val="1000"/>
                        <a:buFont typeface="Tinos"/>
                        <a:buNone/>
                      </a:pPr>
                      <a:r>
                        <a:rPr lang="en-US" sz="1000" u="none" cap="none" strike="noStrike">
                          <a:solidFill>
                            <a:srgbClr val="FFFFFF"/>
                          </a:solidFill>
                          <a:latin typeface="Tinos"/>
                          <a:ea typeface="Tinos"/>
                          <a:cs typeface="Tinos"/>
                          <a:sym typeface="Tinos"/>
                        </a:rPr>
                        <a:t>Признак</a:t>
                      </a:r>
                      <a:endParaRPr sz="1000" u="none" cap="none" strike="noStrike">
                        <a:latin typeface="Tinos"/>
                        <a:ea typeface="Tinos"/>
                        <a:cs typeface="Tinos"/>
                        <a:sym typeface="Tinos"/>
                      </a:endParaRPr>
                    </a:p>
                  </a:txBody>
                  <a:tcPr marT="50800" marB="50800" marR="88900" marL="889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Clr>
                          <a:srgbClr val="FFFFFF"/>
                        </a:buClr>
                        <a:buSzPts val="1000"/>
                        <a:buFont typeface="Tinos"/>
                        <a:buNone/>
                      </a:pPr>
                      <a:r>
                        <a:rPr lang="en-US" sz="1000" u="none" cap="none" strike="noStrike">
                          <a:solidFill>
                            <a:srgbClr val="FFFFFF"/>
                          </a:solidFill>
                          <a:latin typeface="Tinos"/>
                          <a:ea typeface="Tinos"/>
                          <a:cs typeface="Tinos"/>
                          <a:sym typeface="Tinos"/>
                        </a:rPr>
                        <a:t>Интервалы</a:t>
                      </a:r>
                      <a:endParaRPr sz="1000" u="none" cap="none" strike="noStrike">
                        <a:latin typeface="Tinos"/>
                        <a:ea typeface="Tinos"/>
                        <a:cs typeface="Tinos"/>
                        <a:sym typeface="Tinos"/>
                      </a:endParaRPr>
                    </a:p>
                  </a:txBody>
                  <a:tcPr marT="50800" marB="50800" marR="88900" marL="889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c>
                  <a:txBody>
                    <a:bodyPr/>
                    <a:lstStyle/>
                    <a:p>
                      <a:pPr indent="0" lvl="0" marL="0" marR="0" rtl="0" algn="l">
                        <a:spcBef>
                          <a:spcPts val="0"/>
                        </a:spcBef>
                        <a:spcAft>
                          <a:spcPts val="0"/>
                        </a:spcAft>
                        <a:buClr>
                          <a:srgbClr val="FFFFFF"/>
                        </a:buClr>
                        <a:buSzPts val="1000"/>
                        <a:buFont typeface="Tinos"/>
                        <a:buNone/>
                      </a:pPr>
                      <a:r>
                        <a:rPr lang="en-US" sz="1000" u="none" cap="none" strike="noStrike">
                          <a:solidFill>
                            <a:srgbClr val="FFFFFF"/>
                          </a:solidFill>
                          <a:latin typeface="Tinos"/>
                          <a:ea typeface="Tinos"/>
                          <a:cs typeface="Tinos"/>
                          <a:sym typeface="Tinos"/>
                        </a:rPr>
                        <a:t>Границы</a:t>
                      </a:r>
                      <a:endParaRPr sz="1000" u="none" cap="none" strike="noStrike">
                        <a:latin typeface="Tinos"/>
                        <a:ea typeface="Tinos"/>
                        <a:cs typeface="Tinos"/>
                        <a:sym typeface="Tinos"/>
                      </a:endParaRPr>
                    </a:p>
                  </a:txBody>
                  <a:tcPr marT="50800" marB="50800" marR="88900" marL="88900" anchor="ctr">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000000"/>
                    </a:solidFill>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age</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3</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40, 55, 65, 95</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creatinine_phosphokinase</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4</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23, 115, 250, 582, 7861</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ejection_fraction</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3</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14, 35, 40, 80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490475">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platelets</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25100, 153000, 196000, 221000, 237000, 262000, 265000, 286000, 321000, 377000, 850000</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9950">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serum_creatinine</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2</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0.5, 1.1, 9.4</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92075">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serum_sodium</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4</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Tinos"/>
                        <a:buNone/>
                      </a:pPr>
                      <a:r>
                        <a:rPr lang="en-US" sz="1000" u="none" cap="none" strike="noStrike">
                          <a:solidFill>
                            <a:srgbClr val="000000"/>
                          </a:solidFill>
                          <a:latin typeface="Tinos"/>
                          <a:ea typeface="Tinos"/>
                          <a:cs typeface="Tinos"/>
                          <a:sym typeface="Tinos"/>
                        </a:rPr>
                        <a:t>113, 134, 137, 140, 148</a:t>
                      </a:r>
                      <a:endParaRPr sz="1000" u="none" cap="none" strike="noStrike">
                        <a:latin typeface="Tinos"/>
                        <a:ea typeface="Tinos"/>
                        <a:cs typeface="Tinos"/>
                        <a:sym typeface="Tinos"/>
                      </a:endParaRPr>
                    </a:p>
                  </a:txBody>
                  <a:tcPr marT="50800" marB="50800" marR="88900" marL="88900" anchor="ctr">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FFFFFF"/>
                      </a:solidFill>
                      <a:prstDash val="solid"/>
                      <a:round/>
                      <a:headEnd len="sm" w="sm" type="none"/>
                      <a:tailEnd len="sm" w="sm" type="none"/>
                    </a:lnB>
                  </a:tcPr>
                </a:tc>
              </a:tr>
            </a:tbl>
          </a:graphicData>
        </a:graphic>
      </p:graphicFrame>
      <p:sp>
        <p:nvSpPr>
          <p:cNvPr id="210" name="Google Shape;210;p19"/>
          <p:cNvSpPr/>
          <p:nvPr/>
        </p:nvSpPr>
        <p:spPr>
          <a:xfrm>
            <a:off x="736516" y="4724217"/>
            <a:ext cx="6317617" cy="171452"/>
          </a:xfrm>
          <a:prstGeom prst="rect">
            <a:avLst/>
          </a:prstGeom>
          <a:noFill/>
          <a:ln>
            <a:noFill/>
          </a:ln>
        </p:spPr>
        <p:txBody>
          <a:bodyPr anchorCtr="0" anchor="t" bIns="0" lIns="0" spcFirstLastPara="1" rIns="0" wrap="square" tIns="0">
            <a:noAutofit/>
          </a:bodyPr>
          <a:lstStyle/>
          <a:p>
            <a:pPr indent="0" lvl="0" marL="0" marR="0" rtl="0" algn="l">
              <a:lnSpc>
                <a:spcPct val="113000"/>
              </a:lnSpc>
              <a:spcBef>
                <a:spcPts val="0"/>
              </a:spcBef>
              <a:spcAft>
                <a:spcPts val="0"/>
              </a:spcAft>
              <a:buClr>
                <a:srgbClr val="000000"/>
              </a:buClr>
              <a:buSzPts val="1000"/>
              <a:buFont typeface="Tinos"/>
              <a:buNone/>
            </a:pPr>
            <a:r>
              <a:rPr b="1" i="0" lang="en-US" sz="1000" u="none" cap="none" strike="noStrike">
                <a:solidFill>
                  <a:srgbClr val="000000"/>
                </a:solidFill>
                <a:latin typeface="Tinos"/>
                <a:ea typeface="Tinos"/>
                <a:cs typeface="Tinos"/>
                <a:sym typeface="Tinos"/>
              </a:rPr>
              <a:t>Таблица 2</a:t>
            </a:r>
            <a:r>
              <a:rPr b="0" i="0" lang="en-US" sz="1000" u="none" cap="none" strike="noStrike">
                <a:solidFill>
                  <a:srgbClr val="000000"/>
                </a:solidFill>
                <a:latin typeface="Tinos"/>
                <a:ea typeface="Tinos"/>
                <a:cs typeface="Tinos"/>
                <a:sym typeface="Tinos"/>
              </a:rPr>
              <a:t> Квантильные границы интервалов по признакам. </a:t>
            </a:r>
            <a:r>
              <a:rPr b="1" i="0" lang="en-US" sz="1000" u="none" cap="none" strike="noStrike">
                <a:solidFill>
                  <a:srgbClr val="000000"/>
                </a:solidFill>
                <a:latin typeface="Tinos"/>
                <a:ea typeface="Tinos"/>
                <a:cs typeface="Tinos"/>
                <a:sym typeface="Tinos"/>
              </a:rPr>
              <a:t>[Вопрос 5, Задание 3]</a:t>
            </a:r>
            <a:endParaRPr b="0" i="0" sz="1000" u="none" cap="none" strike="noStrike">
              <a:solidFill>
                <a:schemeClr val="dk1"/>
              </a:solidFill>
              <a:latin typeface="Calibri"/>
              <a:ea typeface="Calibri"/>
              <a:cs typeface="Calibri"/>
              <a:sym typeface="Calibri"/>
            </a:endParaRPr>
          </a:p>
        </p:txBody>
      </p:sp>
      <p:sp>
        <p:nvSpPr>
          <p:cNvPr id="211" name="Google Shape;211;p19"/>
          <p:cNvSpPr/>
          <p:nvPr/>
        </p:nvSpPr>
        <p:spPr>
          <a:xfrm>
            <a:off x="507955" y="5302020"/>
            <a:ext cx="6546179" cy="68568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Квантильная стратегия стремится к равному числу наблюдений в каждом интервале. Когда много одинаковых значений попадает на границу, совпадения делают заполнение неравномерным, что заметно для platelets и serum_creatinine. </a:t>
            </a:r>
            <a:r>
              <a:rPr b="1" i="0" lang="en-US" sz="1200" u="none" cap="none" strike="noStrike">
                <a:solidFill>
                  <a:srgbClr val="111111"/>
                </a:solidFill>
                <a:latin typeface="Tinos"/>
                <a:ea typeface="Tinos"/>
                <a:cs typeface="Tinos"/>
                <a:sym typeface="Tinos"/>
              </a:rPr>
              <a:t>[Вопрос 5, Задание 2]</a:t>
            </a:r>
            <a:endParaRPr b="0" i="0" sz="1200" u="none" cap="none" strike="noStrike">
              <a:solidFill>
                <a:schemeClr val="dk1"/>
              </a:solidFill>
              <a:latin typeface="Calibri"/>
              <a:ea typeface="Calibri"/>
              <a:cs typeface="Calibri"/>
              <a:sym typeface="Calibri"/>
            </a:endParaRPr>
          </a:p>
        </p:txBody>
      </p:sp>
      <p:sp>
        <p:nvSpPr>
          <p:cNvPr id="212" name="Google Shape;212;p19"/>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pic>
        <p:nvPicPr>
          <p:cNvPr descr="preencoded.png" id="218" name="Google Shape;218;p20"/>
          <p:cNvPicPr preferRelativeResize="0"/>
          <p:nvPr/>
        </p:nvPicPr>
        <p:blipFill rotWithShape="1">
          <a:blip r:embed="rId3">
            <a:alphaModFix/>
          </a:blip>
          <a:srcRect b="0" l="0" r="0" t="0"/>
          <a:stretch/>
        </p:blipFill>
        <p:spPr>
          <a:xfrm>
            <a:off x="507955" y="177790"/>
            <a:ext cx="6546179" cy="10108394"/>
          </a:xfrm>
          <a:prstGeom prst="rect">
            <a:avLst/>
          </a:prstGeom>
          <a:noFill/>
          <a:ln>
            <a:noFill/>
          </a:ln>
        </p:spPr>
      </p:pic>
      <p:sp>
        <p:nvSpPr>
          <p:cNvPr id="219" name="Google Shape;219;p20"/>
          <p:cNvSpPr/>
          <p:nvPr/>
        </p:nvSpPr>
        <p:spPr>
          <a:xfrm>
            <a:off x="318903" y="10365510"/>
            <a:ext cx="6924283" cy="171452"/>
          </a:xfrm>
          <a:prstGeom prst="rect">
            <a:avLst/>
          </a:prstGeom>
          <a:noFill/>
          <a:ln>
            <a:noFill/>
          </a:ln>
        </p:spPr>
        <p:txBody>
          <a:bodyPr anchorCtr="0" anchor="t" bIns="0" lIns="0" spcFirstLastPara="1" rIns="0" wrap="square" tIns="0">
            <a:noAutofit/>
          </a:bodyPr>
          <a:lstStyle/>
          <a:p>
            <a:pPr indent="0" lvl="0" marL="0" marR="0" rtl="0" algn="ctr">
              <a:lnSpc>
                <a:spcPct val="113000"/>
              </a:lnSpc>
              <a:spcBef>
                <a:spcPts val="0"/>
              </a:spcBef>
              <a:spcAft>
                <a:spcPts val="0"/>
              </a:spcAft>
              <a:buClr>
                <a:srgbClr val="333333"/>
              </a:buClr>
              <a:buSzPts val="1000"/>
              <a:buFont typeface="Tinos"/>
              <a:buNone/>
            </a:pPr>
            <a:r>
              <a:rPr b="1" i="0" lang="en-US" sz="1000" u="none" cap="none" strike="noStrike">
                <a:solidFill>
                  <a:srgbClr val="333333"/>
                </a:solidFill>
                <a:latin typeface="Tinos"/>
                <a:ea typeface="Tinos"/>
                <a:cs typeface="Tinos"/>
                <a:sym typeface="Tinos"/>
              </a:rPr>
              <a:t>Рисунок 10.</a:t>
            </a:r>
            <a:r>
              <a:rPr b="0" i="0" lang="en-US" sz="1000" u="none" cap="none" strike="noStrike">
                <a:solidFill>
                  <a:srgbClr val="333333"/>
                </a:solidFill>
                <a:latin typeface="Tinos"/>
                <a:ea typeface="Tinos"/>
                <a:cs typeface="Tinos"/>
                <a:sym typeface="Tinos"/>
              </a:rPr>
              <a:t> Данные после дискретизации KBinsDiscretizer. </a:t>
            </a:r>
            <a:r>
              <a:rPr b="1" i="0" lang="en-US" sz="1000" u="none" cap="none" strike="noStrike">
                <a:solidFill>
                  <a:srgbClr val="333333"/>
                </a:solidFill>
                <a:latin typeface="Tinos"/>
                <a:ea typeface="Tinos"/>
                <a:cs typeface="Tinos"/>
                <a:sym typeface="Tinos"/>
              </a:rPr>
              <a:t>[Вопрос 5, Задание 2]</a:t>
            </a:r>
            <a:endParaRPr b="0" i="0" sz="1000" u="none" cap="none" strike="noStrike">
              <a:solidFill>
                <a:schemeClr val="dk1"/>
              </a:solidFill>
              <a:latin typeface="Calibri"/>
              <a:ea typeface="Calibri"/>
              <a:cs typeface="Calibri"/>
              <a:sym typeface="Calibri"/>
            </a:endParaRPr>
          </a:p>
        </p:txBody>
      </p:sp>
      <p:sp>
        <p:nvSpPr>
          <p:cNvPr id="220" name="Google Shape;220;p20"/>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18</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21"/>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F2F2F2"/>
              </a:buClr>
              <a:buSzPts val="15000"/>
              <a:buFont typeface="Tinos"/>
              <a:buNone/>
            </a:pPr>
            <a:r>
              <a:rPr b="1" i="0" lang="en-US" sz="15000" u="none" cap="none" strike="noStrike">
                <a:solidFill>
                  <a:srgbClr val="F2F2F2"/>
                </a:solidFill>
                <a:latin typeface="Tinos"/>
                <a:ea typeface="Tinos"/>
                <a:cs typeface="Tinos"/>
                <a:sym typeface="Tinos"/>
              </a:rPr>
              <a:t>Т</a:t>
            </a:r>
            <a:endParaRPr b="0" i="0" sz="15000" u="none" cap="none" strike="noStrike">
              <a:solidFill>
                <a:schemeClr val="dk1"/>
              </a:solidFill>
              <a:latin typeface="Calibri"/>
              <a:ea typeface="Calibri"/>
              <a:cs typeface="Calibri"/>
              <a:sym typeface="Calibri"/>
            </a:endParaRPr>
          </a:p>
        </p:txBody>
      </p:sp>
      <p:sp>
        <p:nvSpPr>
          <p:cNvPr id="227" name="Google Shape;227;p21"/>
          <p:cNvSpPr/>
          <p:nvPr/>
        </p:nvSpPr>
        <p:spPr>
          <a:xfrm>
            <a:off x="253977" y="1180313"/>
            <a:ext cx="2720025" cy="403829"/>
          </a:xfrm>
          <a:prstGeom prst="rect">
            <a:avLst/>
          </a:prstGeom>
          <a:noFill/>
          <a:ln>
            <a:noFill/>
          </a:ln>
        </p:spPr>
        <p:txBody>
          <a:bodyPr anchorCtr="0" anchor="t" bIns="0" lIns="0" spcFirstLastPara="1" rIns="0" wrap="square" tIns="0">
            <a:noAutofit/>
          </a:bodyPr>
          <a:lstStyle/>
          <a:p>
            <a:pPr indent="0" lvl="0" marL="0" marR="0" rtl="0" algn="l">
              <a:lnSpc>
                <a:spcPct val="18000"/>
              </a:lnSpc>
              <a:spcBef>
                <a:spcPts val="0"/>
              </a:spcBef>
              <a:spcAft>
                <a:spcPts val="0"/>
              </a:spcAft>
              <a:buClr>
                <a:srgbClr val="000000"/>
              </a:buClr>
              <a:buSzPts val="15000"/>
              <a:buFont typeface="Tinos"/>
              <a:buNone/>
            </a:pPr>
            <a:r>
              <a:rPr b="1" i="0" lang="en-US" sz="15000" u="none" cap="none" strike="noStrike">
                <a:solidFill>
                  <a:srgbClr val="000000"/>
                </a:solidFill>
                <a:latin typeface="Tinos"/>
                <a:ea typeface="Tinos"/>
                <a:cs typeface="Tinos"/>
                <a:sym typeface="Tinos"/>
              </a:rPr>
              <a:t>Т</a:t>
            </a:r>
            <a:endParaRPr b="0" i="0" sz="15000" u="none" cap="none" strike="noStrike">
              <a:solidFill>
                <a:schemeClr val="dk1"/>
              </a:solidFill>
              <a:latin typeface="Calibri"/>
              <a:ea typeface="Calibri"/>
              <a:cs typeface="Calibri"/>
              <a:sym typeface="Calibri"/>
            </a:endParaRPr>
          </a:p>
        </p:txBody>
      </p:sp>
      <p:sp>
        <p:nvSpPr>
          <p:cNvPr id="228" name="Google Shape;228;p21"/>
          <p:cNvSpPr/>
          <p:nvPr/>
        </p:nvSpPr>
        <p:spPr>
          <a:xfrm>
            <a:off x="3151793" y="639766"/>
            <a:ext cx="3902340" cy="807657"/>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Трудности и их устранение</a:t>
            </a:r>
            <a:endParaRPr b="0" i="0" sz="3000" u="none" cap="none" strike="noStrike">
              <a:solidFill>
                <a:schemeClr val="dk1"/>
              </a:solidFill>
              <a:latin typeface="Calibri"/>
              <a:ea typeface="Calibri"/>
              <a:cs typeface="Calibri"/>
              <a:sym typeface="Calibri"/>
            </a:endParaRPr>
          </a:p>
        </p:txBody>
      </p:sp>
      <p:sp>
        <p:nvSpPr>
          <p:cNvPr id="229" name="Google Shape;229;p21"/>
          <p:cNvSpPr/>
          <p:nvPr/>
        </p:nvSpPr>
        <p:spPr>
          <a:xfrm>
            <a:off x="507955" y="2290260"/>
            <a:ext cx="6546179" cy="198037"/>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Вводящая в заблуждение первичная оценка</a:t>
            </a:r>
            <a:endParaRPr b="0" i="0" sz="1200" u="none" cap="none" strike="noStrike">
              <a:solidFill>
                <a:schemeClr val="dk1"/>
              </a:solidFill>
              <a:latin typeface="Calibri"/>
              <a:ea typeface="Calibri"/>
              <a:cs typeface="Calibri"/>
              <a:sym typeface="Calibri"/>
            </a:endParaRPr>
          </a:p>
        </p:txBody>
      </p:sp>
      <p:sp>
        <p:nvSpPr>
          <p:cNvPr id="230" name="Google Shape;230;p21"/>
          <p:cNvSpPr/>
          <p:nvPr/>
        </p:nvSpPr>
        <p:spPr>
          <a:xfrm>
            <a:off x="507955" y="2624148"/>
            <a:ext cx="6546179" cy="10666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Средние после стандартизации не были равны 0 (age −0.17), а стандартное отклонение — 1 (0.95). Причина — обучение только на 150 строках при преобразовании 299; это подтверждено повторным обучением на всех данных, которое даёт ровно 0 и 1.</a:t>
            </a:r>
            <a:endParaRPr b="0" i="0" sz="1400" u="none" cap="none" strike="noStrike">
              <a:solidFill>
                <a:schemeClr val="dk1"/>
              </a:solidFill>
              <a:latin typeface="Calibri"/>
              <a:ea typeface="Calibri"/>
              <a:cs typeface="Calibri"/>
              <a:sym typeface="Calibri"/>
            </a:endParaRPr>
          </a:p>
        </p:txBody>
      </p:sp>
      <p:sp>
        <p:nvSpPr>
          <p:cNvPr id="231" name="Google Shape;231;p21"/>
          <p:cNvSpPr/>
          <p:nvPr/>
        </p:nvSpPr>
        <p:spPr>
          <a:xfrm>
            <a:off x="507955" y="4154875"/>
            <a:ext cx="6546179" cy="198037"/>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Неверная настройка параметров</a:t>
            </a:r>
            <a:endParaRPr b="0" i="0" sz="1200" u="none" cap="none" strike="noStrike">
              <a:solidFill>
                <a:schemeClr val="dk1"/>
              </a:solidFill>
              <a:latin typeface="Calibri"/>
              <a:ea typeface="Calibri"/>
              <a:cs typeface="Calibri"/>
              <a:sym typeface="Calibri"/>
            </a:endParaRPr>
          </a:p>
        </p:txBody>
      </p:sp>
      <p:sp>
        <p:nvSpPr>
          <p:cNvPr id="232" name="Google Shape;232;p21"/>
          <p:cNvSpPr/>
          <p:nvPr/>
        </p:nvSpPr>
        <p:spPr>
          <a:xfrm>
            <a:off x="507955" y="4488763"/>
            <a:ext cx="6546179" cy="79996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По умолчанию KBinsDiscretizer возвращает разреженный one-hot результат, и при построении графика возникла ошибка "TypeError: sparse array length is ambiguous". Она устранена параметром encode="ordinal"; strategy явно задан как "quantile".</a:t>
            </a:r>
            <a:endParaRPr b="0" i="0" sz="1400" u="none" cap="none" strike="noStrike">
              <a:solidFill>
                <a:schemeClr val="dk1"/>
              </a:solidFill>
              <a:latin typeface="Calibri"/>
              <a:ea typeface="Calibri"/>
              <a:cs typeface="Calibri"/>
              <a:sym typeface="Calibri"/>
            </a:endParaRPr>
          </a:p>
        </p:txBody>
      </p:sp>
      <p:sp>
        <p:nvSpPr>
          <p:cNvPr id="233" name="Google Shape;233;p21"/>
          <p:cNvSpPr/>
          <p:nvPr/>
        </p:nvSpPr>
        <p:spPr>
          <a:xfrm>
            <a:off x="507955" y="5752835"/>
            <a:ext cx="6546179" cy="198037"/>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Несогласованная предобработка</a:t>
            </a:r>
            <a:endParaRPr b="0" i="0" sz="1200" u="none" cap="none" strike="noStrike">
              <a:solidFill>
                <a:schemeClr val="dk1"/>
              </a:solidFill>
              <a:latin typeface="Calibri"/>
              <a:ea typeface="Calibri"/>
              <a:cs typeface="Calibri"/>
              <a:sym typeface="Calibri"/>
            </a:endParaRPr>
          </a:p>
        </p:txBody>
      </p:sp>
      <p:sp>
        <p:nvSpPr>
          <p:cNvPr id="234" name="Google Shape;234;p21"/>
          <p:cNvSpPr/>
          <p:nvPr/>
        </p:nvSpPr>
        <p:spPr>
          <a:xfrm>
            <a:off x="507955" y="6086723"/>
            <a:ext cx="6546179" cy="53331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Неиспользуемый закомментированный код ручной стандартизации создавал риск смешения соглашений ddof. Принято ddof = 0, как в scikit-learn.</a:t>
            </a:r>
            <a:endParaRPr b="0" i="0" sz="1400" u="none" cap="none" strike="noStrike">
              <a:solidFill>
                <a:schemeClr val="dk1"/>
              </a:solidFill>
              <a:latin typeface="Calibri"/>
              <a:ea typeface="Calibri"/>
              <a:cs typeface="Calibri"/>
              <a:sym typeface="Calibri"/>
            </a:endParaRPr>
          </a:p>
        </p:txBody>
      </p:sp>
      <p:sp>
        <p:nvSpPr>
          <p:cNvPr id="235" name="Google Shape;235;p21"/>
          <p:cNvSpPr/>
          <p:nvPr/>
        </p:nvSpPr>
        <p:spPr>
          <a:xfrm>
            <a:off x="507955" y="7084141"/>
            <a:ext cx="6546179" cy="198037"/>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n_quantiles больше объёма выборки</a:t>
            </a:r>
            <a:endParaRPr b="0" i="0" sz="1200" u="none" cap="none" strike="noStrike">
              <a:solidFill>
                <a:schemeClr val="dk1"/>
              </a:solidFill>
              <a:latin typeface="Calibri"/>
              <a:ea typeface="Calibri"/>
              <a:cs typeface="Calibri"/>
              <a:sym typeface="Calibri"/>
            </a:endParaRPr>
          </a:p>
        </p:txBody>
      </p:sp>
      <p:sp>
        <p:nvSpPr>
          <p:cNvPr id="236" name="Google Shape;236;p21"/>
          <p:cNvSpPr/>
          <p:nvPr/>
        </p:nvSpPr>
        <p:spPr>
          <a:xfrm>
            <a:off x="507955" y="7418028"/>
            <a:ext cx="6546179" cy="26665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400"/>
              <a:buFont typeface="Tinos"/>
              <a:buNone/>
            </a:pPr>
            <a:r>
              <a:rPr b="0" i="0" lang="en-US" sz="1400" u="none" cap="none" strike="noStrike">
                <a:solidFill>
                  <a:srgbClr val="111111"/>
                </a:solidFill>
                <a:latin typeface="Tinos"/>
                <a:ea typeface="Tinos"/>
                <a:cs typeface="Tinos"/>
                <a:sym typeface="Tinos"/>
              </a:rPr>
              <a:t>Выявлено по атрибуту n_quantiles_, который показал 299.</a:t>
            </a:r>
            <a:endParaRPr b="0" i="0" sz="1400" u="none" cap="none" strike="noStrike">
              <a:solidFill>
                <a:schemeClr val="dk1"/>
              </a:solidFill>
              <a:latin typeface="Calibri"/>
              <a:ea typeface="Calibri"/>
              <a:cs typeface="Calibri"/>
              <a:sym typeface="Calibri"/>
            </a:endParaRPr>
          </a:p>
        </p:txBody>
      </p:sp>
      <p:sp>
        <p:nvSpPr>
          <p:cNvPr id="237" name="Google Shape;237;p21"/>
          <p:cNvSpPr/>
          <p:nvPr/>
        </p:nvSpPr>
        <p:spPr>
          <a:xfrm>
            <a:off x="507955" y="8167222"/>
            <a:ext cx="35447" cy="838058"/>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21"/>
          <p:cNvSpPr/>
          <p:nvPr/>
        </p:nvSpPr>
        <p:spPr>
          <a:xfrm>
            <a:off x="771963" y="8243409"/>
            <a:ext cx="6282170" cy="68568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lang="en-US" sz="1200">
                <a:solidFill>
                  <a:srgbClr val="111111"/>
                </a:solidFill>
                <a:latin typeface="Tinos"/>
                <a:ea typeface="Tinos"/>
                <a:cs typeface="Tinos"/>
                <a:sym typeface="Tinos"/>
              </a:rPr>
              <a:t>В основном проблемы были не с самими методами, а с дефолтными настройками sklearn. Больше всего времени ушло на чтение документации и повторение статистики (дисперсия, IQR), так как я уже подзабыл эти темы</a:t>
            </a:r>
            <a:endParaRPr b="0" i="0" sz="1200" u="none" cap="none" strike="noStrike">
              <a:solidFill>
                <a:schemeClr val="dk1"/>
              </a:solidFill>
              <a:latin typeface="Calibri"/>
              <a:ea typeface="Calibri"/>
              <a:cs typeface="Calibri"/>
              <a:sym typeface="Calibri"/>
            </a:endParaRPr>
          </a:p>
        </p:txBody>
      </p:sp>
      <p:sp>
        <p:nvSpPr>
          <p:cNvPr id="239" name="Google Shape;239;p21"/>
          <p:cNvSpPr/>
          <p:nvPr/>
        </p:nvSpPr>
        <p:spPr>
          <a:xfrm>
            <a:off x="543402" y="8167222"/>
            <a:ext cx="19016" cy="838058"/>
          </a:xfrm>
          <a:prstGeom prst="roundRect">
            <a:avLst>
              <a:gd fmla="val 50000"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
          <p:cNvSpPr/>
          <p:nvPr/>
        </p:nvSpPr>
        <p:spPr>
          <a:xfrm>
            <a:off x="507955" y="3915390"/>
            <a:ext cx="6546179" cy="7877"/>
          </a:xfrm>
          <a:prstGeom prst="rect">
            <a:avLst/>
          </a:prstGeom>
          <a:solidFill>
            <a:srgbClr val="808080">
              <a:alpha val="3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1"/>
          <p:cNvSpPr/>
          <p:nvPr/>
        </p:nvSpPr>
        <p:spPr>
          <a:xfrm>
            <a:off x="507955" y="5513350"/>
            <a:ext cx="6546179" cy="7877"/>
          </a:xfrm>
          <a:prstGeom prst="rect">
            <a:avLst/>
          </a:prstGeom>
          <a:solidFill>
            <a:srgbClr val="808080">
              <a:alpha val="3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1"/>
          <p:cNvSpPr/>
          <p:nvPr/>
        </p:nvSpPr>
        <p:spPr>
          <a:xfrm>
            <a:off x="507955" y="6844656"/>
            <a:ext cx="6546179" cy="7877"/>
          </a:xfrm>
          <a:prstGeom prst="rect">
            <a:avLst/>
          </a:prstGeom>
          <a:solidFill>
            <a:srgbClr val="808080">
              <a:alpha val="3490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19</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22"/>
          <p:cNvSpPr/>
          <p:nvPr/>
        </p:nvSpPr>
        <p:spPr>
          <a:xfrm>
            <a:off x="507955" y="586410"/>
            <a:ext cx="6546179" cy="403829"/>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000000"/>
              </a:buClr>
              <a:buSzPts val="3000"/>
              <a:buFont typeface="Tinos"/>
              <a:buNone/>
            </a:pPr>
            <a:r>
              <a:rPr b="1" i="0" lang="en-US" sz="3000" u="none" cap="none" strike="noStrike">
                <a:solidFill>
                  <a:srgbClr val="000000"/>
                </a:solidFill>
                <a:latin typeface="Tinos"/>
                <a:ea typeface="Tinos"/>
                <a:cs typeface="Tinos"/>
                <a:sym typeface="Tinos"/>
              </a:rPr>
              <a:t>Заключение</a:t>
            </a:r>
            <a:endParaRPr b="0" i="0" sz="3000" u="none" cap="none" strike="noStrike">
              <a:solidFill>
                <a:schemeClr val="dk1"/>
              </a:solidFill>
              <a:latin typeface="Calibri"/>
              <a:ea typeface="Calibri"/>
              <a:cs typeface="Calibri"/>
              <a:sym typeface="Calibri"/>
            </a:endParaRPr>
          </a:p>
        </p:txBody>
      </p:sp>
      <p:sp>
        <p:nvSpPr>
          <p:cNvPr id="250" name="Google Shape;250;p22"/>
          <p:cNvSpPr/>
          <p:nvPr/>
        </p:nvSpPr>
        <p:spPr>
          <a:xfrm>
            <a:off x="507950" y="1161074"/>
            <a:ext cx="6546300" cy="1797600"/>
          </a:xfrm>
          <a:prstGeom prst="rect">
            <a:avLst/>
          </a:prstGeom>
          <a:noFill/>
          <a:ln>
            <a:noFill/>
          </a:ln>
        </p:spPr>
        <p:txBody>
          <a:bodyPr anchorCtr="0" anchor="t" bIns="0" lIns="0" spcFirstLastPara="1" rIns="0" wrap="square" tIns="0">
            <a:noAutofit/>
          </a:bodyPr>
          <a:lstStyle/>
          <a:p>
            <a:pPr indent="0" lvl="0" marL="0" marR="0" rtl="0" algn="l">
              <a:lnSpc>
                <a:spcPct val="88000"/>
              </a:lnSpc>
              <a:spcBef>
                <a:spcPts val="0"/>
              </a:spcBef>
              <a:spcAft>
                <a:spcPts val="0"/>
              </a:spcAft>
              <a:buClr>
                <a:srgbClr val="666666"/>
              </a:buClr>
              <a:buSzPts val="1800"/>
              <a:buFont typeface="Tinos"/>
              <a:buNone/>
            </a:pPr>
            <a:r>
              <a:rPr b="1" lang="en-US" sz="1800">
                <a:solidFill>
                  <a:srgbClr val="666666"/>
                </a:solidFill>
                <a:latin typeface="Tinos"/>
                <a:ea typeface="Tinos"/>
                <a:cs typeface="Tinos"/>
                <a:sym typeface="Tinos"/>
              </a:rPr>
              <a:t>По сути, линейное масштабирование (MinMax, Standard) просто сдвигает и сжимает значения, а нелинейные преобразования (Quantile, Power) реально меняют форму распределения. Ещё на практике убедился, что scaler надо обучать на тех же данных, на которых он потом применяется иначе средние значения не сойдутся (в моем случае получилось -0.17 вместо 0)</a:t>
            </a:r>
            <a:endParaRPr b="0" i="0" sz="1800" u="none" cap="none" strike="noStrike">
              <a:solidFill>
                <a:schemeClr val="dk1"/>
              </a:solidFill>
              <a:latin typeface="Calibri"/>
              <a:ea typeface="Calibri"/>
              <a:cs typeface="Calibri"/>
              <a:sym typeface="Calibri"/>
            </a:endParaRPr>
          </a:p>
        </p:txBody>
      </p:sp>
      <p:sp>
        <p:nvSpPr>
          <p:cNvPr id="251" name="Google Shape;251;p22"/>
          <p:cNvSpPr/>
          <p:nvPr/>
        </p:nvSpPr>
        <p:spPr>
          <a:xfrm>
            <a:off x="507955" y="2986746"/>
            <a:ext cx="2160300" cy="19800"/>
          </a:xfrm>
          <a:prstGeom prst="roundRect">
            <a:avLst>
              <a:gd fmla="val 50000" name="adj"/>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2"/>
          <p:cNvSpPr/>
          <p:nvPr/>
        </p:nvSpPr>
        <p:spPr>
          <a:xfrm>
            <a:off x="507955" y="3415673"/>
            <a:ext cx="35400" cy="12552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2"/>
          <p:cNvSpPr/>
          <p:nvPr/>
        </p:nvSpPr>
        <p:spPr>
          <a:xfrm>
            <a:off x="771963" y="3651220"/>
            <a:ext cx="6053700" cy="198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Линейные методы</a:t>
            </a:r>
            <a:endParaRPr b="0" i="0" sz="1200" u="none" cap="none" strike="noStrike">
              <a:solidFill>
                <a:schemeClr val="dk1"/>
              </a:solidFill>
              <a:latin typeface="Calibri"/>
              <a:ea typeface="Calibri"/>
              <a:cs typeface="Calibri"/>
              <a:sym typeface="Calibri"/>
            </a:endParaRPr>
          </a:p>
        </p:txBody>
      </p:sp>
      <p:sp>
        <p:nvSpPr>
          <p:cNvPr id="254" name="Google Shape;254;p22"/>
          <p:cNvSpPr/>
          <p:nvPr/>
        </p:nvSpPr>
        <p:spPr>
          <a:xfrm>
            <a:off x="771963" y="3985108"/>
            <a:ext cx="6053700"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Они меняют положение и масштаб, но сохраняют форму распределения; в MinMax и MaxAbs по-прежнему доминируют выбросы.</a:t>
            </a:r>
            <a:endParaRPr b="0" i="0" sz="1200" u="none" cap="none" strike="noStrike">
              <a:solidFill>
                <a:schemeClr val="dk1"/>
              </a:solidFill>
              <a:latin typeface="Calibri"/>
              <a:ea typeface="Calibri"/>
              <a:cs typeface="Calibri"/>
              <a:sym typeface="Calibri"/>
            </a:endParaRPr>
          </a:p>
        </p:txBody>
      </p:sp>
      <p:sp>
        <p:nvSpPr>
          <p:cNvPr id="255" name="Google Shape;255;p22"/>
          <p:cNvSpPr/>
          <p:nvPr/>
        </p:nvSpPr>
        <p:spPr>
          <a:xfrm>
            <a:off x="507955" y="5127976"/>
            <a:ext cx="35400" cy="12552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22"/>
          <p:cNvSpPr/>
          <p:nvPr/>
        </p:nvSpPr>
        <p:spPr>
          <a:xfrm>
            <a:off x="771963" y="5363522"/>
            <a:ext cx="6053700" cy="198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Асимметричные признаки</a:t>
            </a:r>
            <a:endParaRPr b="0" i="0" sz="1200" u="none" cap="none" strike="noStrike">
              <a:solidFill>
                <a:schemeClr val="dk1"/>
              </a:solidFill>
              <a:latin typeface="Calibri"/>
              <a:ea typeface="Calibri"/>
              <a:cs typeface="Calibri"/>
              <a:sym typeface="Calibri"/>
            </a:endParaRPr>
          </a:p>
        </p:txBody>
      </p:sp>
      <p:sp>
        <p:nvSpPr>
          <p:cNvPr id="257" name="Google Shape;257;p22"/>
          <p:cNvSpPr/>
          <p:nvPr/>
        </p:nvSpPr>
        <p:spPr>
          <a:xfrm>
            <a:off x="771963" y="5697410"/>
            <a:ext cx="6053700"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Для асимметричных признаков, таких как creatinine_phosphokinase, предпочтителен RobustScaler.</a:t>
            </a:r>
            <a:endParaRPr b="0" i="0" sz="1200" u="none" cap="none" strike="noStrike">
              <a:solidFill>
                <a:schemeClr val="dk1"/>
              </a:solidFill>
              <a:latin typeface="Calibri"/>
              <a:ea typeface="Calibri"/>
              <a:cs typeface="Calibri"/>
              <a:sym typeface="Calibri"/>
            </a:endParaRPr>
          </a:p>
        </p:txBody>
      </p:sp>
      <p:sp>
        <p:nvSpPr>
          <p:cNvPr id="258" name="Google Shape;258;p22"/>
          <p:cNvSpPr/>
          <p:nvPr/>
        </p:nvSpPr>
        <p:spPr>
          <a:xfrm>
            <a:off x="507955" y="6840278"/>
            <a:ext cx="35400" cy="12552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2"/>
          <p:cNvSpPr/>
          <p:nvPr/>
        </p:nvSpPr>
        <p:spPr>
          <a:xfrm>
            <a:off x="771963" y="7075825"/>
            <a:ext cx="6053700" cy="198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Нелинейные преобразования</a:t>
            </a:r>
            <a:endParaRPr b="0" i="0" sz="1200" u="none" cap="none" strike="noStrike">
              <a:solidFill>
                <a:schemeClr val="dk1"/>
              </a:solidFill>
              <a:latin typeface="Calibri"/>
              <a:ea typeface="Calibri"/>
              <a:cs typeface="Calibri"/>
              <a:sym typeface="Calibri"/>
            </a:endParaRPr>
          </a:p>
        </p:txBody>
      </p:sp>
      <p:sp>
        <p:nvSpPr>
          <p:cNvPr id="260" name="Google Shape;260;p22"/>
          <p:cNvSpPr/>
          <p:nvPr/>
        </p:nvSpPr>
        <p:spPr>
          <a:xfrm>
            <a:off x="771963" y="7409712"/>
            <a:ext cx="6053700"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Квантильное и степенное преобразования меняют форму распределений, что полезно для моделей, предполагающих нормальность.</a:t>
            </a:r>
            <a:endParaRPr b="0" i="0" sz="1200" u="none" cap="none" strike="noStrike">
              <a:solidFill>
                <a:schemeClr val="dk1"/>
              </a:solidFill>
              <a:latin typeface="Calibri"/>
              <a:ea typeface="Calibri"/>
              <a:cs typeface="Calibri"/>
              <a:sym typeface="Calibri"/>
            </a:endParaRPr>
          </a:p>
        </p:txBody>
      </p:sp>
      <p:sp>
        <p:nvSpPr>
          <p:cNvPr id="261" name="Google Shape;261;p22"/>
          <p:cNvSpPr/>
          <p:nvPr/>
        </p:nvSpPr>
        <p:spPr>
          <a:xfrm>
            <a:off x="507955" y="8552581"/>
            <a:ext cx="35400" cy="1255200"/>
          </a:xfrm>
          <a:prstGeom prst="rect">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2"/>
          <p:cNvSpPr/>
          <p:nvPr/>
        </p:nvSpPr>
        <p:spPr>
          <a:xfrm>
            <a:off x="771963" y="8788127"/>
            <a:ext cx="6053700" cy="19800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000000"/>
              </a:buClr>
              <a:buSzPts val="1200"/>
              <a:buFont typeface="Tinos"/>
              <a:buNone/>
            </a:pPr>
            <a:r>
              <a:rPr b="1" i="0" lang="en-US" sz="1200" u="none" cap="none" strike="noStrike">
                <a:solidFill>
                  <a:srgbClr val="000000"/>
                </a:solidFill>
                <a:latin typeface="Tinos"/>
                <a:ea typeface="Tinos"/>
                <a:cs typeface="Tinos"/>
                <a:sym typeface="Tinos"/>
              </a:rPr>
              <a:t>Подвыборка для обучения</a:t>
            </a:r>
            <a:endParaRPr b="0" i="0" sz="1200" u="none" cap="none" strike="noStrike">
              <a:solidFill>
                <a:schemeClr val="dk1"/>
              </a:solidFill>
              <a:latin typeface="Calibri"/>
              <a:ea typeface="Calibri"/>
              <a:cs typeface="Calibri"/>
              <a:sym typeface="Calibri"/>
            </a:endParaRPr>
          </a:p>
        </p:txBody>
      </p:sp>
      <p:sp>
        <p:nvSpPr>
          <p:cNvPr id="263" name="Google Shape;263;p22"/>
          <p:cNvSpPr/>
          <p:nvPr/>
        </p:nvSpPr>
        <p:spPr>
          <a:xfrm>
            <a:off x="771963" y="9122015"/>
            <a:ext cx="6053700" cy="4572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111111"/>
              </a:buClr>
              <a:buSzPts val="1200"/>
              <a:buFont typeface="Tinos"/>
              <a:buNone/>
            </a:pPr>
            <a:r>
              <a:rPr b="0" i="0" lang="en-US" sz="1200" u="none" cap="none" strike="noStrike">
                <a:solidFill>
                  <a:srgbClr val="111111"/>
                </a:solidFill>
                <a:latin typeface="Tinos"/>
                <a:ea typeface="Tinos"/>
                <a:cs typeface="Tinos"/>
                <a:sym typeface="Tinos"/>
              </a:rPr>
              <a:t>Масштабировщики нужно обучать на той же подвыборке, на которой они оцениваются; это главный урок для предотвращения утечки между обучающими и тестовыми данными.</a:t>
            </a:r>
            <a:endParaRPr b="0" i="0" sz="1200" u="none" cap="none" strike="noStrike">
              <a:solidFill>
                <a:schemeClr val="dk1"/>
              </a:solidFill>
              <a:latin typeface="Calibri"/>
              <a:ea typeface="Calibri"/>
              <a:cs typeface="Calibri"/>
              <a:sym typeface="Calibri"/>
            </a:endParaRPr>
          </a:p>
        </p:txBody>
      </p:sp>
      <p:sp>
        <p:nvSpPr>
          <p:cNvPr id="264" name="Google Shape;264;p22"/>
          <p:cNvSpPr/>
          <p:nvPr/>
        </p:nvSpPr>
        <p:spPr>
          <a:xfrm>
            <a:off x="5755938" y="10159965"/>
            <a:ext cx="1317888" cy="171452"/>
          </a:xfrm>
          <a:prstGeom prst="rect">
            <a:avLst/>
          </a:prstGeom>
          <a:noFill/>
          <a:ln>
            <a:noFill/>
          </a:ln>
        </p:spPr>
        <p:txBody>
          <a:bodyPr anchorCtr="0" anchor="t" bIns="0" lIns="0" spcFirstLastPara="1" rIns="0" wrap="square" tIns="0">
            <a:noAutofit/>
          </a:bodyPr>
          <a:lstStyle/>
          <a:p>
            <a:pPr indent="0" lvl="0" marL="0" marR="0" rtl="0" algn="r">
              <a:lnSpc>
                <a:spcPct val="113000"/>
              </a:lnSpc>
              <a:spcBef>
                <a:spcPts val="0"/>
              </a:spcBef>
              <a:spcAft>
                <a:spcPts val="0"/>
              </a:spcAft>
              <a:buClr>
                <a:srgbClr val="333333"/>
              </a:buClr>
              <a:buSzPts val="1000"/>
              <a:buFont typeface="Tinos"/>
              <a:buNone/>
            </a:pPr>
            <a:r>
              <a:rPr b="0" i="0" lang="en-US" sz="1000" u="none" cap="none" strike="noStrike">
                <a:solidFill>
                  <a:srgbClr val="333333"/>
                </a:solidFill>
                <a:latin typeface="Tinos"/>
                <a:ea typeface="Tinos"/>
                <a:cs typeface="Tinos"/>
                <a:sym typeface="Tinos"/>
              </a:rPr>
              <a:t>20</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